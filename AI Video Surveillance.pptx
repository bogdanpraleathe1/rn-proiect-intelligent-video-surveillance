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3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4580"/>
    <p:restoredTop sz="94680"/>
  </p:normalViewPr>
  <p:slideViewPr>
    <p:cSldViewPr snapToGrid="0">
      <p:cViewPr varScale="1">
        <p:scale>
          <a:sx n="75" d="100"/>
          <a:sy n="75" d="100"/>
        </p:scale>
        <p:origin x="176" y="25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632D8EAB-D371-7B43-AA20-6C7219E1BAE4}" type="datetimeFigureOut">
              <a:rPr lang="en-RO" smtClean="0"/>
              <a:t>11.02.2026</a:t>
            </a:fld>
            <a:endParaRPr lang="en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54E631DE-97FF-D342-9F06-E9B651746956}" type="slidenum">
              <a:rPr lang="en-RO" smtClean="0"/>
              <a:t>‹#›</a:t>
            </a:fld>
            <a:endParaRPr lang="en-RO"/>
          </a:p>
        </p:txBody>
      </p:sp>
    </p:spTree>
    <p:extLst>
      <p:ext uri="{BB962C8B-B14F-4D97-AF65-F5344CB8AC3E}">
        <p14:creationId xmlns:p14="http://schemas.microsoft.com/office/powerpoint/2010/main" val="43397136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D8EAB-D371-7B43-AA20-6C7219E1BAE4}" type="datetimeFigureOut">
              <a:rPr lang="en-RO" smtClean="0"/>
              <a:t>11.02.2026</a:t>
            </a:fld>
            <a:endParaRPr lang="en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631DE-97FF-D342-9F06-E9B651746956}" type="slidenum">
              <a:rPr lang="en-RO" smtClean="0"/>
              <a:t>‹#›</a:t>
            </a:fld>
            <a:endParaRPr lang="en-RO"/>
          </a:p>
        </p:txBody>
      </p:sp>
    </p:spTree>
    <p:extLst>
      <p:ext uri="{BB962C8B-B14F-4D97-AF65-F5344CB8AC3E}">
        <p14:creationId xmlns:p14="http://schemas.microsoft.com/office/powerpoint/2010/main" val="36772781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D8EAB-D371-7B43-AA20-6C7219E1BAE4}" type="datetimeFigureOut">
              <a:rPr lang="en-RO" smtClean="0"/>
              <a:t>11.02.2026</a:t>
            </a:fld>
            <a:endParaRPr lang="en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631DE-97FF-D342-9F06-E9B651746956}" type="slidenum">
              <a:rPr lang="en-RO" smtClean="0"/>
              <a:t>‹#›</a:t>
            </a:fld>
            <a:endParaRPr lang="en-RO"/>
          </a:p>
        </p:txBody>
      </p:sp>
    </p:spTree>
    <p:extLst>
      <p:ext uri="{BB962C8B-B14F-4D97-AF65-F5344CB8AC3E}">
        <p14:creationId xmlns:p14="http://schemas.microsoft.com/office/powerpoint/2010/main" val="14124246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D8EAB-D371-7B43-AA20-6C7219E1BAE4}" type="datetimeFigureOut">
              <a:rPr lang="en-RO" smtClean="0"/>
              <a:t>11.02.2026</a:t>
            </a:fld>
            <a:endParaRPr lang="en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631DE-97FF-D342-9F06-E9B651746956}" type="slidenum">
              <a:rPr lang="en-RO" smtClean="0"/>
              <a:t>‹#›</a:t>
            </a:fld>
            <a:endParaRPr lang="en-RO"/>
          </a:p>
        </p:txBody>
      </p:sp>
    </p:spTree>
    <p:extLst>
      <p:ext uri="{BB962C8B-B14F-4D97-AF65-F5344CB8AC3E}">
        <p14:creationId xmlns:p14="http://schemas.microsoft.com/office/powerpoint/2010/main" val="15844991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D8EAB-D371-7B43-AA20-6C7219E1BAE4}" type="datetimeFigureOut">
              <a:rPr lang="en-RO" smtClean="0"/>
              <a:t>11.02.2026</a:t>
            </a:fld>
            <a:endParaRPr lang="en-R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631DE-97FF-D342-9F06-E9B651746956}" type="slidenum">
              <a:rPr lang="en-RO" smtClean="0"/>
              <a:t>‹#›</a:t>
            </a:fld>
            <a:endParaRPr lang="en-RO"/>
          </a:p>
        </p:txBody>
      </p:sp>
    </p:spTree>
    <p:extLst>
      <p:ext uri="{BB962C8B-B14F-4D97-AF65-F5344CB8AC3E}">
        <p14:creationId xmlns:p14="http://schemas.microsoft.com/office/powerpoint/2010/main" val="1838848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D8EAB-D371-7B43-AA20-6C7219E1BAE4}" type="datetimeFigureOut">
              <a:rPr lang="en-RO" smtClean="0"/>
              <a:t>11.02.2026</a:t>
            </a:fld>
            <a:endParaRPr lang="en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631DE-97FF-D342-9F06-E9B651746956}" type="slidenum">
              <a:rPr lang="en-RO" smtClean="0"/>
              <a:t>‹#›</a:t>
            </a:fld>
            <a:endParaRPr lang="en-RO"/>
          </a:p>
        </p:txBody>
      </p:sp>
    </p:spTree>
    <p:extLst>
      <p:ext uri="{BB962C8B-B14F-4D97-AF65-F5344CB8AC3E}">
        <p14:creationId xmlns:p14="http://schemas.microsoft.com/office/powerpoint/2010/main" val="18164146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D8EAB-D371-7B43-AA20-6C7219E1BAE4}" type="datetimeFigureOut">
              <a:rPr lang="en-RO" smtClean="0"/>
              <a:t>11.02.2026</a:t>
            </a:fld>
            <a:endParaRPr lang="en-R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631DE-97FF-D342-9F06-E9B651746956}" type="slidenum">
              <a:rPr lang="en-RO" smtClean="0"/>
              <a:t>‹#›</a:t>
            </a:fld>
            <a:endParaRPr lang="en-RO"/>
          </a:p>
        </p:txBody>
      </p:sp>
    </p:spTree>
    <p:extLst>
      <p:ext uri="{BB962C8B-B14F-4D97-AF65-F5344CB8AC3E}">
        <p14:creationId xmlns:p14="http://schemas.microsoft.com/office/powerpoint/2010/main" val="29023805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D8EAB-D371-7B43-AA20-6C7219E1BAE4}" type="datetimeFigureOut">
              <a:rPr lang="en-RO" smtClean="0"/>
              <a:t>11.02.2026</a:t>
            </a:fld>
            <a:endParaRPr lang="en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631DE-97FF-D342-9F06-E9B651746956}" type="slidenum">
              <a:rPr lang="en-RO" smtClean="0"/>
              <a:t>‹#›</a:t>
            </a:fld>
            <a:endParaRPr lang="en-RO"/>
          </a:p>
        </p:txBody>
      </p:sp>
    </p:spTree>
    <p:extLst>
      <p:ext uri="{BB962C8B-B14F-4D97-AF65-F5344CB8AC3E}">
        <p14:creationId xmlns:p14="http://schemas.microsoft.com/office/powerpoint/2010/main" val="4810632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D8EAB-D371-7B43-AA20-6C7219E1BAE4}" type="datetimeFigureOut">
              <a:rPr lang="en-RO" smtClean="0"/>
              <a:t>11.02.2026</a:t>
            </a:fld>
            <a:endParaRPr lang="en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631DE-97FF-D342-9F06-E9B651746956}" type="slidenum">
              <a:rPr lang="en-RO" smtClean="0"/>
              <a:t>‹#›</a:t>
            </a:fld>
            <a:endParaRPr lang="en-RO"/>
          </a:p>
        </p:txBody>
      </p:sp>
    </p:spTree>
    <p:extLst>
      <p:ext uri="{BB962C8B-B14F-4D97-AF65-F5344CB8AC3E}">
        <p14:creationId xmlns:p14="http://schemas.microsoft.com/office/powerpoint/2010/main" val="21447401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D8EAB-D371-7B43-AA20-6C7219E1BAE4}" type="datetimeFigureOut">
              <a:rPr lang="en-RO" smtClean="0"/>
              <a:t>11.02.2026</a:t>
            </a:fld>
            <a:endParaRPr lang="en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631DE-97FF-D342-9F06-E9B651746956}" type="slidenum">
              <a:rPr lang="en-RO" smtClean="0"/>
              <a:t>‹#›</a:t>
            </a:fld>
            <a:endParaRPr lang="en-RO"/>
          </a:p>
        </p:txBody>
      </p:sp>
    </p:spTree>
    <p:extLst>
      <p:ext uri="{BB962C8B-B14F-4D97-AF65-F5344CB8AC3E}">
        <p14:creationId xmlns:p14="http://schemas.microsoft.com/office/powerpoint/2010/main" val="4243256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D8EAB-D371-7B43-AA20-6C7219E1BAE4}" type="datetimeFigureOut">
              <a:rPr lang="en-RO" smtClean="0"/>
              <a:t>11.02.2026</a:t>
            </a:fld>
            <a:endParaRPr lang="en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631DE-97FF-D342-9F06-E9B651746956}" type="slidenum">
              <a:rPr lang="en-RO" smtClean="0"/>
              <a:t>‹#›</a:t>
            </a:fld>
            <a:endParaRPr lang="en-RO"/>
          </a:p>
        </p:txBody>
      </p:sp>
    </p:spTree>
    <p:extLst>
      <p:ext uri="{BB962C8B-B14F-4D97-AF65-F5344CB8AC3E}">
        <p14:creationId xmlns:p14="http://schemas.microsoft.com/office/powerpoint/2010/main" val="1321126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D8EAB-D371-7B43-AA20-6C7219E1BAE4}" type="datetimeFigureOut">
              <a:rPr lang="en-RO" smtClean="0"/>
              <a:t>11.02.2026</a:t>
            </a:fld>
            <a:endParaRPr lang="en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631DE-97FF-D342-9F06-E9B651746956}" type="slidenum">
              <a:rPr lang="en-RO" smtClean="0"/>
              <a:t>‹#›</a:t>
            </a:fld>
            <a:endParaRPr lang="en-RO"/>
          </a:p>
        </p:txBody>
      </p:sp>
    </p:spTree>
    <p:extLst>
      <p:ext uri="{BB962C8B-B14F-4D97-AF65-F5344CB8AC3E}">
        <p14:creationId xmlns:p14="http://schemas.microsoft.com/office/powerpoint/2010/main" val="382673070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D8EAB-D371-7B43-AA20-6C7219E1BAE4}" type="datetimeFigureOut">
              <a:rPr lang="en-RO" smtClean="0"/>
              <a:t>11.02.2026</a:t>
            </a:fld>
            <a:endParaRPr lang="en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631DE-97FF-D342-9F06-E9B651746956}" type="slidenum">
              <a:rPr lang="en-RO" smtClean="0"/>
              <a:t>‹#›</a:t>
            </a:fld>
            <a:endParaRPr lang="en-RO"/>
          </a:p>
        </p:txBody>
      </p:sp>
    </p:spTree>
    <p:extLst>
      <p:ext uri="{BB962C8B-B14F-4D97-AF65-F5344CB8AC3E}">
        <p14:creationId xmlns:p14="http://schemas.microsoft.com/office/powerpoint/2010/main" val="296681758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D8EAB-D371-7B43-AA20-6C7219E1BAE4}" type="datetimeFigureOut">
              <a:rPr lang="en-RO" smtClean="0"/>
              <a:t>11.02.2026</a:t>
            </a:fld>
            <a:endParaRPr lang="en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631DE-97FF-D342-9F06-E9B651746956}" type="slidenum">
              <a:rPr lang="en-RO" smtClean="0"/>
              <a:t>‹#›</a:t>
            </a:fld>
            <a:endParaRPr lang="en-RO"/>
          </a:p>
        </p:txBody>
      </p:sp>
    </p:spTree>
    <p:extLst>
      <p:ext uri="{BB962C8B-B14F-4D97-AF65-F5344CB8AC3E}">
        <p14:creationId xmlns:p14="http://schemas.microsoft.com/office/powerpoint/2010/main" val="260846120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D8EAB-D371-7B43-AA20-6C7219E1BAE4}" type="datetimeFigureOut">
              <a:rPr lang="en-RO" smtClean="0"/>
              <a:t>11.02.2026</a:t>
            </a:fld>
            <a:endParaRPr lang="en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631DE-97FF-D342-9F06-E9B651746956}" type="slidenum">
              <a:rPr lang="en-RO" smtClean="0"/>
              <a:t>‹#›</a:t>
            </a:fld>
            <a:endParaRPr lang="en-RO"/>
          </a:p>
        </p:txBody>
      </p:sp>
    </p:spTree>
    <p:extLst>
      <p:ext uri="{BB962C8B-B14F-4D97-AF65-F5344CB8AC3E}">
        <p14:creationId xmlns:p14="http://schemas.microsoft.com/office/powerpoint/2010/main" val="410469001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D8EAB-D371-7B43-AA20-6C7219E1BAE4}" type="datetimeFigureOut">
              <a:rPr lang="en-RO" smtClean="0"/>
              <a:t>11.02.2026</a:t>
            </a:fld>
            <a:endParaRPr lang="en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631DE-97FF-D342-9F06-E9B651746956}" type="slidenum">
              <a:rPr lang="en-RO" smtClean="0"/>
              <a:t>‹#›</a:t>
            </a:fld>
            <a:endParaRPr lang="en-RO"/>
          </a:p>
        </p:txBody>
      </p:sp>
    </p:spTree>
    <p:extLst>
      <p:ext uri="{BB962C8B-B14F-4D97-AF65-F5344CB8AC3E}">
        <p14:creationId xmlns:p14="http://schemas.microsoft.com/office/powerpoint/2010/main" val="23250471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D8EAB-D371-7B43-AA20-6C7219E1BAE4}" type="datetimeFigureOut">
              <a:rPr lang="en-RO" smtClean="0"/>
              <a:t>11.02.2026</a:t>
            </a:fld>
            <a:endParaRPr lang="en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631DE-97FF-D342-9F06-E9B651746956}" type="slidenum">
              <a:rPr lang="en-RO" smtClean="0"/>
              <a:t>‹#›</a:t>
            </a:fld>
            <a:endParaRPr lang="en-RO"/>
          </a:p>
        </p:txBody>
      </p:sp>
    </p:spTree>
    <p:extLst>
      <p:ext uri="{BB962C8B-B14F-4D97-AF65-F5344CB8AC3E}">
        <p14:creationId xmlns:p14="http://schemas.microsoft.com/office/powerpoint/2010/main" val="5238937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632D8EAB-D371-7B43-AA20-6C7219E1BAE4}" type="datetimeFigureOut">
              <a:rPr lang="en-RO" smtClean="0"/>
              <a:t>11.02.2026</a:t>
            </a:fld>
            <a:endParaRPr lang="en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4E631DE-97FF-D342-9F06-E9B651746956}" type="slidenum">
              <a:rPr lang="en-RO" smtClean="0"/>
              <a:t>‹#›</a:t>
            </a:fld>
            <a:endParaRPr lang="en-RO"/>
          </a:p>
        </p:txBody>
      </p:sp>
    </p:spTree>
    <p:extLst>
      <p:ext uri="{BB962C8B-B14F-4D97-AF65-F5344CB8AC3E}">
        <p14:creationId xmlns:p14="http://schemas.microsoft.com/office/powerpoint/2010/main" val="90191549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  <p:sldLayoutId id="2147483744" r:id="rId12"/>
    <p:sldLayoutId id="2147483745" r:id="rId13"/>
    <p:sldLayoutId id="2147483746" r:id="rId14"/>
    <p:sldLayoutId id="2147483747" r:id="rId15"/>
    <p:sldLayoutId id="2147483748" r:id="rId16"/>
    <p:sldLayoutId id="214748374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B79744-7968-040D-DC84-FD38BFA3142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RO" dirty="0">
                <a:solidFill>
                  <a:schemeClr val="bg1"/>
                </a:solidFill>
              </a:rPr>
              <a:t>Ai video surveillance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D98BCA2-7A7C-957F-E691-678F761387D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GB" b="0" i="0" u="none" strike="noStrike" dirty="0" err="1">
                <a:effectLst/>
                <a:latin typeface="-webkit-standard"/>
              </a:rPr>
              <a:t>Detectarea</a:t>
            </a:r>
            <a:r>
              <a:rPr lang="en-GB" b="0" i="0" u="none" strike="noStrike" dirty="0">
                <a:effectLst/>
                <a:latin typeface="-webkit-standard"/>
              </a:rPr>
              <a:t> </a:t>
            </a:r>
            <a:r>
              <a:rPr lang="en-GB" b="0" i="0" u="none" strike="noStrike" dirty="0" err="1">
                <a:effectLst/>
                <a:latin typeface="-webkit-standard"/>
              </a:rPr>
              <a:t>automată</a:t>
            </a:r>
            <a:r>
              <a:rPr lang="en-GB" b="0" i="0" u="none" strike="noStrike" dirty="0">
                <a:effectLst/>
                <a:latin typeface="-webkit-standard"/>
              </a:rPr>
              <a:t> a </a:t>
            </a:r>
            <a:r>
              <a:rPr lang="en-GB" b="0" i="0" u="none" strike="noStrike" dirty="0" err="1">
                <a:effectLst/>
                <a:latin typeface="-webkit-standard"/>
              </a:rPr>
              <a:t>anomaliilor</a:t>
            </a:r>
            <a:r>
              <a:rPr lang="en-GB" b="0" i="0" u="none" strike="noStrike" dirty="0">
                <a:effectLst/>
                <a:latin typeface="-webkit-standard"/>
              </a:rPr>
              <a:t> </a:t>
            </a:r>
            <a:r>
              <a:rPr lang="en-GB" b="0" i="0" u="none" strike="noStrike" dirty="0" err="1">
                <a:effectLst/>
                <a:latin typeface="-webkit-standard"/>
              </a:rPr>
              <a:t>folosind</a:t>
            </a:r>
            <a:r>
              <a:rPr lang="en-GB" b="0" i="0" u="none" strike="noStrike" dirty="0">
                <a:effectLst/>
                <a:latin typeface="-webkit-standard"/>
              </a:rPr>
              <a:t> </a:t>
            </a:r>
            <a:r>
              <a:rPr lang="en-GB" b="0" i="0" u="none" strike="noStrike" dirty="0" err="1">
                <a:effectLst/>
                <a:latin typeface="-webkit-standard"/>
              </a:rPr>
              <a:t>rețele</a:t>
            </a:r>
            <a:r>
              <a:rPr lang="en-GB" b="0" i="0" u="none" strike="noStrike" dirty="0">
                <a:effectLst/>
                <a:latin typeface="-webkit-standard"/>
              </a:rPr>
              <a:t> </a:t>
            </a:r>
            <a:r>
              <a:rPr lang="en-GB" b="0" i="0" u="none" strike="noStrike" dirty="0" err="1">
                <a:effectLst/>
                <a:latin typeface="-webkit-standard"/>
              </a:rPr>
              <a:t>neurale</a:t>
            </a:r>
            <a:r>
              <a:rPr lang="en-GB" b="0" i="0" u="none" strike="noStrike" dirty="0">
                <a:effectLst/>
                <a:latin typeface="-webkit-standard"/>
              </a:rPr>
              <a:t> </a:t>
            </a:r>
            <a:r>
              <a:rPr lang="en-GB" b="0" i="0" u="none" strike="noStrike" dirty="0" err="1">
                <a:effectLst/>
                <a:latin typeface="-webkit-standard"/>
              </a:rPr>
              <a:t>ConvLSTM</a:t>
            </a:r>
            <a:endParaRPr lang="en-GB" b="0" i="0" u="none" strike="noStrike" dirty="0">
              <a:effectLst/>
              <a:latin typeface="-webkit-standard"/>
            </a:endParaRPr>
          </a:p>
          <a:p>
            <a:r>
              <a:rPr lang="en-GB" dirty="0" err="1">
                <a:latin typeface="-webkit-standard"/>
              </a:rPr>
              <a:t>Pralea</a:t>
            </a:r>
            <a:r>
              <a:rPr lang="en-GB" dirty="0">
                <a:latin typeface="-webkit-standard"/>
              </a:rPr>
              <a:t> bogdan-Stefan</a:t>
            </a:r>
          </a:p>
          <a:p>
            <a:r>
              <a:rPr lang="en-GB" dirty="0">
                <a:latin typeface="-webkit-standard"/>
              </a:rPr>
              <a:t>631AB</a:t>
            </a:r>
            <a:endParaRPr lang="en-RO" dirty="0"/>
          </a:p>
        </p:txBody>
      </p:sp>
    </p:spTree>
    <p:extLst>
      <p:ext uri="{BB962C8B-B14F-4D97-AF65-F5344CB8AC3E}">
        <p14:creationId xmlns:p14="http://schemas.microsoft.com/office/powerpoint/2010/main" val="35130255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4FB2A0-7CED-8DF9-5252-B4AEF0C567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>
                <a:solidFill>
                  <a:srgbClr val="000000"/>
                </a:solidFill>
                <a:latin typeface="-webkit-standard"/>
              </a:rPr>
              <a:t>Ochiul</a:t>
            </a:r>
            <a:r>
              <a:rPr lang="en-GB" dirty="0">
                <a:solidFill>
                  <a:srgbClr val="000000"/>
                </a:solidFill>
                <a:latin typeface="-webkit-standard"/>
              </a:rPr>
              <a:t> </a:t>
            </a:r>
            <a:r>
              <a:rPr lang="en-GB" dirty="0" err="1">
                <a:solidFill>
                  <a:srgbClr val="000000"/>
                </a:solidFill>
                <a:latin typeface="-webkit-standard"/>
              </a:rPr>
              <a:t>uman</a:t>
            </a:r>
            <a:r>
              <a:rPr lang="en-GB" dirty="0">
                <a:solidFill>
                  <a:srgbClr val="000000"/>
                </a:solidFill>
                <a:latin typeface="-webkit-standard"/>
              </a:rPr>
              <a:t> </a:t>
            </a:r>
            <a:r>
              <a:rPr lang="en-GB" dirty="0" err="1">
                <a:solidFill>
                  <a:srgbClr val="000000"/>
                </a:solidFill>
                <a:latin typeface="-webkit-standard"/>
              </a:rPr>
              <a:t>oboseste</a:t>
            </a:r>
            <a:endParaRPr lang="en-RO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0374A8-9D34-ADBA-5099-48725B1287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Context:</a:t>
            </a:r>
            <a:r>
              <a:rPr lang="en-GB" dirty="0"/>
              <a:t> </a:t>
            </a:r>
            <a:r>
              <a:rPr lang="en-GB" dirty="0" err="1"/>
              <a:t>În</a:t>
            </a:r>
            <a:r>
              <a:rPr lang="en-GB" dirty="0"/>
              <a:t> </a:t>
            </a:r>
            <a:r>
              <a:rPr lang="en-GB" dirty="0" err="1"/>
              <a:t>lume</a:t>
            </a:r>
            <a:r>
              <a:rPr lang="en-GB" dirty="0"/>
              <a:t> </a:t>
            </a:r>
            <a:r>
              <a:rPr lang="en-GB" dirty="0" err="1"/>
              <a:t>există</a:t>
            </a:r>
            <a:r>
              <a:rPr lang="en-GB" dirty="0"/>
              <a:t> </a:t>
            </a:r>
            <a:r>
              <a:rPr lang="en-GB" dirty="0" err="1"/>
              <a:t>miliarde</a:t>
            </a:r>
            <a:r>
              <a:rPr lang="en-GB" dirty="0"/>
              <a:t> de </a:t>
            </a:r>
            <a:r>
              <a:rPr lang="en-GB" dirty="0" err="1"/>
              <a:t>camere</a:t>
            </a:r>
            <a:r>
              <a:rPr lang="en-GB" dirty="0"/>
              <a:t> de </a:t>
            </a:r>
            <a:r>
              <a:rPr lang="en-GB" dirty="0" err="1"/>
              <a:t>supraveghere</a:t>
            </a:r>
            <a:r>
              <a:rPr lang="en-GB" dirty="0"/>
              <a:t>.</a:t>
            </a:r>
          </a:p>
          <a:p>
            <a:r>
              <a:rPr lang="en-GB" b="1" dirty="0" err="1"/>
              <a:t>Problema</a:t>
            </a:r>
            <a:r>
              <a:rPr lang="en-GB" b="1" dirty="0"/>
              <a:t>:</a:t>
            </a:r>
            <a:r>
              <a:rPr lang="en-GB" dirty="0"/>
              <a:t> Un operator </a:t>
            </a:r>
            <a:r>
              <a:rPr lang="en-GB" dirty="0" err="1"/>
              <a:t>uman</a:t>
            </a:r>
            <a:r>
              <a:rPr lang="en-GB" dirty="0"/>
              <a:t> nu </a:t>
            </a:r>
            <a:r>
              <a:rPr lang="en-GB" dirty="0" err="1"/>
              <a:t>poate</a:t>
            </a:r>
            <a:r>
              <a:rPr lang="en-GB" dirty="0"/>
              <a:t> </a:t>
            </a:r>
            <a:r>
              <a:rPr lang="en-GB" dirty="0" err="1"/>
              <a:t>privi</a:t>
            </a:r>
            <a:r>
              <a:rPr lang="en-GB" dirty="0"/>
              <a:t> </a:t>
            </a:r>
            <a:r>
              <a:rPr lang="en-GB" dirty="0" err="1"/>
              <a:t>atent</a:t>
            </a:r>
            <a:r>
              <a:rPr lang="en-GB" dirty="0"/>
              <a:t> 20 de </a:t>
            </a:r>
            <a:r>
              <a:rPr lang="en-GB" dirty="0" err="1"/>
              <a:t>monitoare</a:t>
            </a:r>
            <a:r>
              <a:rPr lang="en-GB" dirty="0"/>
              <a:t> </a:t>
            </a:r>
            <a:r>
              <a:rPr lang="en-GB" dirty="0" err="1"/>
              <a:t>simultan</a:t>
            </a:r>
            <a:r>
              <a:rPr lang="en-GB" dirty="0"/>
              <a:t> </a:t>
            </a:r>
            <a:r>
              <a:rPr lang="en-GB" dirty="0" err="1"/>
              <a:t>mai</a:t>
            </a:r>
            <a:r>
              <a:rPr lang="en-GB" dirty="0"/>
              <a:t> </a:t>
            </a:r>
            <a:r>
              <a:rPr lang="en-GB" dirty="0" err="1"/>
              <a:t>mult</a:t>
            </a:r>
            <a:r>
              <a:rPr lang="en-GB" dirty="0"/>
              <a:t> de 20 de minute </a:t>
            </a:r>
            <a:r>
              <a:rPr lang="en-GB" dirty="0" err="1"/>
              <a:t>fără</a:t>
            </a:r>
            <a:r>
              <a:rPr lang="en-GB" dirty="0"/>
              <a:t> </a:t>
            </a:r>
            <a:r>
              <a:rPr lang="en-GB" dirty="0" err="1"/>
              <a:t>să</a:t>
            </a:r>
            <a:r>
              <a:rPr lang="en-GB" dirty="0"/>
              <a:t> </a:t>
            </a:r>
            <a:r>
              <a:rPr lang="en-GB" dirty="0" err="1"/>
              <a:t>piardă</a:t>
            </a:r>
            <a:r>
              <a:rPr lang="en-GB" dirty="0"/>
              <a:t> </a:t>
            </a:r>
            <a:r>
              <a:rPr lang="en-GB" dirty="0" err="1"/>
              <a:t>detalii</a:t>
            </a:r>
            <a:r>
              <a:rPr lang="en-GB" dirty="0"/>
              <a:t> </a:t>
            </a:r>
            <a:r>
              <a:rPr lang="en-GB" dirty="0" err="1"/>
              <a:t>esențiale</a:t>
            </a:r>
            <a:r>
              <a:rPr lang="en-GB" dirty="0"/>
              <a:t>.</a:t>
            </a:r>
          </a:p>
          <a:p>
            <a:r>
              <a:rPr lang="en-GB" b="1" dirty="0" err="1"/>
              <a:t>Riscul</a:t>
            </a:r>
            <a:r>
              <a:rPr lang="en-GB" b="1" dirty="0"/>
              <a:t>:</a:t>
            </a:r>
            <a:r>
              <a:rPr lang="en-GB" dirty="0"/>
              <a:t> </a:t>
            </a:r>
            <a:r>
              <a:rPr lang="en-GB" dirty="0" err="1"/>
              <a:t>Incidentele</a:t>
            </a:r>
            <a:r>
              <a:rPr lang="en-GB" dirty="0"/>
              <a:t> (</a:t>
            </a:r>
            <a:r>
              <a:rPr lang="en-GB" dirty="0" err="1"/>
              <a:t>furturi</a:t>
            </a:r>
            <a:r>
              <a:rPr lang="en-GB" dirty="0"/>
              <a:t>, </a:t>
            </a:r>
            <a:r>
              <a:rPr lang="en-GB" dirty="0" err="1"/>
              <a:t>accidente</a:t>
            </a:r>
            <a:r>
              <a:rPr lang="en-GB" dirty="0"/>
              <a:t>, </a:t>
            </a:r>
            <a:r>
              <a:rPr lang="en-GB" dirty="0" err="1"/>
              <a:t>agresiuni</a:t>
            </a:r>
            <a:r>
              <a:rPr lang="en-GB" dirty="0"/>
              <a:t>) sunt </a:t>
            </a:r>
            <a:r>
              <a:rPr lang="en-GB" dirty="0" err="1"/>
              <a:t>observate</a:t>
            </a:r>
            <a:r>
              <a:rPr lang="en-GB" dirty="0"/>
              <a:t> </a:t>
            </a:r>
            <a:r>
              <a:rPr lang="en-GB" dirty="0" err="1"/>
              <a:t>adesea</a:t>
            </a:r>
            <a:r>
              <a:rPr lang="en-GB" dirty="0"/>
              <a:t> </a:t>
            </a:r>
            <a:r>
              <a:rPr lang="en-GB" i="1" dirty="0" err="1"/>
              <a:t>după</a:t>
            </a:r>
            <a:r>
              <a:rPr lang="en-GB" dirty="0"/>
              <a:t> </a:t>
            </a:r>
            <a:r>
              <a:rPr lang="en-GB" dirty="0" err="1"/>
              <a:t>ce</a:t>
            </a:r>
            <a:r>
              <a:rPr lang="en-GB" dirty="0"/>
              <a:t> s-au </a:t>
            </a:r>
            <a:r>
              <a:rPr lang="en-GB" dirty="0" err="1"/>
              <a:t>întâmplat</a:t>
            </a:r>
            <a:r>
              <a:rPr lang="en-GB" dirty="0"/>
              <a:t>, la </a:t>
            </a:r>
            <a:r>
              <a:rPr lang="en-GB" dirty="0" err="1"/>
              <a:t>verificarea</a:t>
            </a:r>
            <a:r>
              <a:rPr lang="en-GB" dirty="0"/>
              <a:t> </a:t>
            </a:r>
            <a:r>
              <a:rPr lang="en-GB" dirty="0" err="1"/>
              <a:t>înregistrărilor</a:t>
            </a:r>
            <a:r>
              <a:rPr lang="en-GB" dirty="0"/>
              <a:t>.</a:t>
            </a:r>
          </a:p>
          <a:p>
            <a:endParaRPr lang="en-RO" dirty="0"/>
          </a:p>
        </p:txBody>
      </p:sp>
    </p:spTree>
    <p:extLst>
      <p:ext uri="{BB962C8B-B14F-4D97-AF65-F5344CB8AC3E}">
        <p14:creationId xmlns:p14="http://schemas.microsoft.com/office/powerpoint/2010/main" val="22127319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CC5DFF-0B7C-E076-A897-341B8A57C4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O</a:t>
            </a:r>
            <a:r>
              <a:rPr lang="en-RO" dirty="0">
                <a:solidFill>
                  <a:schemeClr val="bg1"/>
                </a:solidFill>
              </a:rPr>
              <a:t>chiul digital nu doarme niciodata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8A8B9C-9E63-6DC8-22AE-B2339DADD0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Ce face </a:t>
            </a:r>
            <a:r>
              <a:rPr lang="en-GB" b="1" dirty="0" err="1"/>
              <a:t>proiectul</a:t>
            </a:r>
            <a:r>
              <a:rPr lang="en-GB" b="1" dirty="0"/>
              <a:t>?</a:t>
            </a:r>
            <a:r>
              <a:rPr lang="en-GB" dirty="0"/>
              <a:t> </a:t>
            </a:r>
            <a:r>
              <a:rPr lang="en-GB" dirty="0" err="1"/>
              <a:t>Folosește</a:t>
            </a:r>
            <a:r>
              <a:rPr lang="en-GB" dirty="0"/>
              <a:t> </a:t>
            </a:r>
            <a:r>
              <a:rPr lang="en-GB" dirty="0" err="1"/>
              <a:t>Inteligența</a:t>
            </a:r>
            <a:r>
              <a:rPr lang="en-GB" dirty="0"/>
              <a:t> </a:t>
            </a:r>
            <a:r>
              <a:rPr lang="en-GB" dirty="0" err="1"/>
              <a:t>Artificială</a:t>
            </a:r>
            <a:r>
              <a:rPr lang="en-GB" dirty="0"/>
              <a:t> (AI) </a:t>
            </a:r>
            <a:r>
              <a:rPr lang="en-GB" dirty="0" err="1"/>
              <a:t>pentru</a:t>
            </a:r>
            <a:r>
              <a:rPr lang="en-GB" dirty="0"/>
              <a:t> a </a:t>
            </a:r>
            <a:r>
              <a:rPr lang="en-GB" dirty="0" err="1"/>
              <a:t>analiza</a:t>
            </a:r>
            <a:r>
              <a:rPr lang="en-GB" dirty="0"/>
              <a:t> </a:t>
            </a:r>
            <a:r>
              <a:rPr lang="en-GB" dirty="0" err="1"/>
              <a:t>fluxul</a:t>
            </a:r>
            <a:r>
              <a:rPr lang="en-GB" dirty="0"/>
              <a:t> video </a:t>
            </a:r>
            <a:r>
              <a:rPr lang="en-GB" dirty="0" err="1"/>
              <a:t>în</a:t>
            </a:r>
            <a:r>
              <a:rPr lang="en-GB" dirty="0"/>
              <a:t> </a:t>
            </a:r>
            <a:r>
              <a:rPr lang="en-GB" dirty="0" err="1"/>
              <a:t>timp</a:t>
            </a:r>
            <a:r>
              <a:rPr lang="en-GB" dirty="0"/>
              <a:t> real.</a:t>
            </a:r>
          </a:p>
          <a:p>
            <a:r>
              <a:rPr lang="en-GB" b="1" dirty="0" err="1"/>
              <a:t>Obiectiv</a:t>
            </a:r>
            <a:r>
              <a:rPr lang="en-GB" b="1" dirty="0"/>
              <a:t>:</a:t>
            </a:r>
            <a:r>
              <a:rPr lang="en-GB" dirty="0"/>
              <a:t> </a:t>
            </a:r>
            <a:r>
              <a:rPr lang="en-GB" dirty="0" err="1"/>
              <a:t>Să</a:t>
            </a:r>
            <a:r>
              <a:rPr lang="en-GB" dirty="0"/>
              <a:t> </a:t>
            </a:r>
            <a:r>
              <a:rPr lang="en-GB" dirty="0" err="1"/>
              <a:t>alerteze</a:t>
            </a:r>
            <a:r>
              <a:rPr lang="en-GB" dirty="0"/>
              <a:t> </a:t>
            </a:r>
            <a:r>
              <a:rPr lang="en-GB" dirty="0" err="1"/>
              <a:t>imediat</a:t>
            </a:r>
            <a:r>
              <a:rPr lang="en-GB" dirty="0"/>
              <a:t> </a:t>
            </a:r>
            <a:r>
              <a:rPr lang="en-GB" dirty="0" err="1"/>
              <a:t>paznicul</a:t>
            </a:r>
            <a:r>
              <a:rPr lang="en-GB" dirty="0"/>
              <a:t> </a:t>
            </a:r>
            <a:r>
              <a:rPr lang="en-GB" dirty="0" err="1"/>
              <a:t>sau</a:t>
            </a:r>
            <a:r>
              <a:rPr lang="en-GB" dirty="0"/>
              <a:t> </a:t>
            </a:r>
            <a:r>
              <a:rPr lang="en-GB" dirty="0" err="1"/>
              <a:t>administratorul</a:t>
            </a:r>
            <a:r>
              <a:rPr lang="en-GB" dirty="0"/>
              <a:t> </a:t>
            </a:r>
            <a:r>
              <a:rPr lang="en-GB" dirty="0" err="1"/>
              <a:t>atunci</a:t>
            </a:r>
            <a:r>
              <a:rPr lang="en-GB" dirty="0"/>
              <a:t> </a:t>
            </a:r>
            <a:r>
              <a:rPr lang="en-GB" dirty="0" err="1"/>
              <a:t>când</a:t>
            </a:r>
            <a:r>
              <a:rPr lang="en-GB" dirty="0"/>
              <a:t> se </a:t>
            </a:r>
            <a:r>
              <a:rPr lang="en-GB" dirty="0" err="1"/>
              <a:t>întâmplă</a:t>
            </a:r>
            <a:r>
              <a:rPr lang="en-GB" dirty="0"/>
              <a:t> </a:t>
            </a:r>
            <a:r>
              <a:rPr lang="en-GB" dirty="0" err="1"/>
              <a:t>ceva</a:t>
            </a:r>
            <a:r>
              <a:rPr lang="en-GB" dirty="0"/>
              <a:t> „</a:t>
            </a:r>
            <a:r>
              <a:rPr lang="en-GB" dirty="0" err="1"/>
              <a:t>neobișnuit</a:t>
            </a:r>
            <a:r>
              <a:rPr lang="en-GB" dirty="0"/>
              <a:t>”.</a:t>
            </a:r>
          </a:p>
          <a:p>
            <a:r>
              <a:rPr lang="en-GB" b="1" dirty="0" err="1"/>
              <a:t>Tehnologia</a:t>
            </a:r>
            <a:r>
              <a:rPr lang="en-GB" b="1" dirty="0"/>
              <a:t>:</a:t>
            </a:r>
            <a:r>
              <a:rPr lang="en-GB" dirty="0"/>
              <a:t> </a:t>
            </a:r>
            <a:r>
              <a:rPr lang="en-GB" dirty="0" err="1"/>
              <a:t>Rețele</a:t>
            </a:r>
            <a:r>
              <a:rPr lang="en-GB" dirty="0"/>
              <a:t> </a:t>
            </a:r>
            <a:r>
              <a:rPr lang="en-GB" dirty="0" err="1"/>
              <a:t>neurale</a:t>
            </a:r>
            <a:r>
              <a:rPr lang="en-GB" dirty="0"/>
              <a:t> </a:t>
            </a:r>
            <a:r>
              <a:rPr lang="en-GB" dirty="0" err="1"/>
              <a:t>profunde</a:t>
            </a:r>
            <a:r>
              <a:rPr lang="en-GB" dirty="0"/>
              <a:t> (Deep Learning) care </a:t>
            </a:r>
            <a:r>
              <a:rPr lang="en-GB" dirty="0" err="1"/>
              <a:t>învață</a:t>
            </a:r>
            <a:r>
              <a:rPr lang="en-GB" dirty="0"/>
              <a:t> </a:t>
            </a:r>
            <a:r>
              <a:rPr lang="en-GB" dirty="0" err="1"/>
              <a:t>singure</a:t>
            </a:r>
            <a:r>
              <a:rPr lang="en-GB" dirty="0"/>
              <a:t> </a:t>
            </a:r>
            <a:r>
              <a:rPr lang="en-GB" dirty="0" err="1"/>
              <a:t>tiparele</a:t>
            </a:r>
            <a:r>
              <a:rPr lang="en-GB" dirty="0"/>
              <a:t> de </a:t>
            </a:r>
            <a:r>
              <a:rPr lang="en-GB" dirty="0" err="1"/>
              <a:t>mișcare</a:t>
            </a:r>
            <a:r>
              <a:rPr lang="en-GB" dirty="0"/>
              <a:t>.</a:t>
            </a:r>
          </a:p>
          <a:p>
            <a:endParaRPr lang="en-RO" dirty="0"/>
          </a:p>
        </p:txBody>
      </p:sp>
    </p:spTree>
    <p:extLst>
      <p:ext uri="{BB962C8B-B14F-4D97-AF65-F5344CB8AC3E}">
        <p14:creationId xmlns:p14="http://schemas.microsoft.com/office/powerpoint/2010/main" val="2502039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E4FAE7-CAFF-0E73-C0D1-E0099EC68E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Cum „</a:t>
            </a:r>
            <a:r>
              <a:rPr lang="en-GB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gândește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” AI-</a:t>
            </a:r>
            <a:r>
              <a:rPr lang="en-GB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ul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en-GB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nostru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?</a:t>
            </a:r>
            <a:endParaRPr lang="en-RO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CE3216-BC25-61B4-9832-99E5C8886B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Concept:</a:t>
            </a:r>
            <a:r>
              <a:rPr lang="en-GB" dirty="0"/>
              <a:t> </a:t>
            </a:r>
            <a:r>
              <a:rPr lang="en-GB" dirty="0" err="1"/>
              <a:t>Modelul</a:t>
            </a:r>
            <a:r>
              <a:rPr lang="en-GB" dirty="0"/>
              <a:t> </a:t>
            </a:r>
            <a:r>
              <a:rPr lang="en-GB" dirty="0" err="1"/>
              <a:t>este</a:t>
            </a:r>
            <a:r>
              <a:rPr lang="en-GB" dirty="0"/>
              <a:t> </a:t>
            </a:r>
            <a:r>
              <a:rPr lang="en-GB" dirty="0" err="1"/>
              <a:t>antrenat</a:t>
            </a:r>
            <a:r>
              <a:rPr lang="en-GB" dirty="0"/>
              <a:t> </a:t>
            </a:r>
            <a:r>
              <a:rPr lang="en-GB" b="1" dirty="0" err="1"/>
              <a:t>doar</a:t>
            </a:r>
            <a:r>
              <a:rPr lang="en-GB" b="1" dirty="0"/>
              <a:t> cu </a:t>
            </a:r>
            <a:r>
              <a:rPr lang="en-GB" b="1" dirty="0" err="1"/>
              <a:t>videoclipuri</a:t>
            </a:r>
            <a:r>
              <a:rPr lang="en-GB" b="1" dirty="0"/>
              <a:t> </a:t>
            </a:r>
            <a:r>
              <a:rPr lang="en-GB" b="1" dirty="0" err="1"/>
              <a:t>normale</a:t>
            </a:r>
            <a:r>
              <a:rPr lang="en-GB" dirty="0"/>
              <a:t> (</a:t>
            </a:r>
            <a:r>
              <a:rPr lang="en-GB" dirty="0" err="1"/>
              <a:t>oameni</a:t>
            </a:r>
            <a:r>
              <a:rPr lang="en-GB" dirty="0"/>
              <a:t> </a:t>
            </a:r>
            <a:r>
              <a:rPr lang="en-GB" dirty="0" err="1"/>
              <a:t>mergând</a:t>
            </a:r>
            <a:r>
              <a:rPr lang="en-GB" dirty="0"/>
              <a:t> </a:t>
            </a:r>
            <a:r>
              <a:rPr lang="en-GB" dirty="0" err="1"/>
              <a:t>liniștiți</a:t>
            </a:r>
            <a:r>
              <a:rPr lang="en-GB" dirty="0"/>
              <a:t>, </a:t>
            </a:r>
            <a:r>
              <a:rPr lang="en-GB" dirty="0" err="1"/>
              <a:t>trafic</a:t>
            </a:r>
            <a:r>
              <a:rPr lang="en-GB" dirty="0"/>
              <a:t> fluid).</a:t>
            </a:r>
          </a:p>
          <a:p>
            <a:r>
              <a:rPr lang="en-GB" b="1" dirty="0"/>
              <a:t>Logica:</a:t>
            </a:r>
            <a:r>
              <a:rPr lang="en-GB" dirty="0"/>
              <a:t> AI-</a:t>
            </a:r>
            <a:r>
              <a:rPr lang="en-GB" dirty="0" err="1"/>
              <a:t>ul</a:t>
            </a:r>
            <a:r>
              <a:rPr lang="en-GB" dirty="0"/>
              <a:t> </a:t>
            </a:r>
            <a:r>
              <a:rPr lang="en-GB" dirty="0" err="1"/>
              <a:t>învață</a:t>
            </a:r>
            <a:r>
              <a:rPr lang="en-GB" dirty="0"/>
              <a:t> </a:t>
            </a:r>
            <a:r>
              <a:rPr lang="en-GB" dirty="0" err="1"/>
              <a:t>să</a:t>
            </a:r>
            <a:r>
              <a:rPr lang="en-GB" dirty="0"/>
              <a:t> </a:t>
            </a:r>
            <a:r>
              <a:rPr lang="en-GB" dirty="0" err="1"/>
              <a:t>reconstruiască</a:t>
            </a:r>
            <a:r>
              <a:rPr lang="en-GB" dirty="0"/>
              <a:t> </a:t>
            </a:r>
            <a:r>
              <a:rPr lang="en-GB" dirty="0" err="1"/>
              <a:t>aceste</a:t>
            </a:r>
            <a:r>
              <a:rPr lang="en-GB" dirty="0"/>
              <a:t> </a:t>
            </a:r>
            <a:r>
              <a:rPr lang="en-GB" dirty="0" err="1"/>
              <a:t>imagini</a:t>
            </a:r>
            <a:r>
              <a:rPr lang="en-GB" dirty="0"/>
              <a:t> perfect.</a:t>
            </a:r>
          </a:p>
          <a:p>
            <a:r>
              <a:rPr lang="en-GB" b="1" dirty="0" err="1"/>
              <a:t>Detecția</a:t>
            </a:r>
            <a:r>
              <a:rPr lang="en-GB" b="1" dirty="0"/>
              <a:t>:</a:t>
            </a:r>
            <a:r>
              <a:rPr lang="en-GB" dirty="0"/>
              <a:t> </a:t>
            </a:r>
            <a:r>
              <a:rPr lang="en-GB" dirty="0" err="1"/>
              <a:t>Când</a:t>
            </a:r>
            <a:r>
              <a:rPr lang="en-GB" dirty="0"/>
              <a:t> </a:t>
            </a:r>
            <a:r>
              <a:rPr lang="en-GB" dirty="0" err="1"/>
              <a:t>apare</a:t>
            </a:r>
            <a:r>
              <a:rPr lang="en-GB" dirty="0"/>
              <a:t> </a:t>
            </a:r>
            <a:r>
              <a:rPr lang="en-GB" dirty="0" err="1"/>
              <a:t>ceva</a:t>
            </a:r>
            <a:r>
              <a:rPr lang="en-GB" dirty="0"/>
              <a:t> </a:t>
            </a:r>
            <a:r>
              <a:rPr lang="en-GB" dirty="0" err="1"/>
              <a:t>ce</a:t>
            </a:r>
            <a:r>
              <a:rPr lang="en-GB" dirty="0"/>
              <a:t> AI-</a:t>
            </a:r>
            <a:r>
              <a:rPr lang="en-GB" dirty="0" err="1"/>
              <a:t>ul</a:t>
            </a:r>
            <a:r>
              <a:rPr lang="en-GB" dirty="0"/>
              <a:t> </a:t>
            </a:r>
            <a:r>
              <a:rPr lang="en-GB" i="1" dirty="0"/>
              <a:t>nu </a:t>
            </a:r>
            <a:r>
              <a:rPr lang="en-GB" i="1" dirty="0" err="1"/>
              <a:t>știe</a:t>
            </a:r>
            <a:r>
              <a:rPr lang="en-GB" dirty="0"/>
              <a:t> </a:t>
            </a:r>
            <a:r>
              <a:rPr lang="en-GB" dirty="0" err="1"/>
              <a:t>să</a:t>
            </a:r>
            <a:r>
              <a:rPr lang="en-GB" dirty="0"/>
              <a:t> </a:t>
            </a:r>
            <a:r>
              <a:rPr lang="en-GB" dirty="0" err="1"/>
              <a:t>reconstruiască</a:t>
            </a:r>
            <a:r>
              <a:rPr lang="en-GB" dirty="0"/>
              <a:t> (o </a:t>
            </a:r>
            <a:r>
              <a:rPr lang="en-GB" dirty="0" err="1"/>
              <a:t>alergare</a:t>
            </a:r>
            <a:r>
              <a:rPr lang="en-GB" dirty="0"/>
              <a:t> </a:t>
            </a:r>
            <a:r>
              <a:rPr lang="en-GB" dirty="0" err="1"/>
              <a:t>bruscă</a:t>
            </a:r>
            <a:r>
              <a:rPr lang="en-GB" dirty="0"/>
              <a:t>, un </a:t>
            </a:r>
            <a:r>
              <a:rPr lang="en-GB" dirty="0" err="1"/>
              <a:t>obiect</a:t>
            </a:r>
            <a:r>
              <a:rPr lang="en-GB" dirty="0"/>
              <a:t> </a:t>
            </a:r>
            <a:r>
              <a:rPr lang="en-GB" dirty="0" err="1"/>
              <a:t>lăsat</a:t>
            </a:r>
            <a:r>
              <a:rPr lang="en-GB" dirty="0"/>
              <a:t> </a:t>
            </a:r>
            <a:r>
              <a:rPr lang="en-GB" dirty="0" err="1"/>
              <a:t>nesupravegheat</a:t>
            </a:r>
            <a:r>
              <a:rPr lang="en-GB" dirty="0"/>
              <a:t>), </a:t>
            </a:r>
            <a:r>
              <a:rPr lang="en-GB" dirty="0" err="1"/>
              <a:t>scorul</a:t>
            </a:r>
            <a:r>
              <a:rPr lang="en-GB" dirty="0"/>
              <a:t> de </a:t>
            </a:r>
            <a:r>
              <a:rPr lang="en-GB" dirty="0" err="1"/>
              <a:t>eroare</a:t>
            </a:r>
            <a:r>
              <a:rPr lang="en-GB" dirty="0"/>
              <a:t> </a:t>
            </a:r>
            <a:r>
              <a:rPr lang="en-GB" dirty="0" err="1"/>
              <a:t>crește</a:t>
            </a:r>
            <a:r>
              <a:rPr lang="en-GB" dirty="0"/>
              <a:t>, </a:t>
            </a:r>
            <a:r>
              <a:rPr lang="en-GB" dirty="0" err="1"/>
              <a:t>declanșând</a:t>
            </a:r>
            <a:r>
              <a:rPr lang="en-GB" dirty="0"/>
              <a:t> </a:t>
            </a:r>
            <a:r>
              <a:rPr lang="en-GB" dirty="0" err="1"/>
              <a:t>alerta</a:t>
            </a:r>
            <a:r>
              <a:rPr lang="en-GB" dirty="0"/>
              <a:t>.</a:t>
            </a:r>
          </a:p>
          <a:p>
            <a:endParaRPr lang="en-RO" dirty="0"/>
          </a:p>
        </p:txBody>
      </p:sp>
    </p:spTree>
    <p:extLst>
      <p:ext uri="{BB962C8B-B14F-4D97-AF65-F5344CB8AC3E}">
        <p14:creationId xmlns:p14="http://schemas.microsoft.com/office/powerpoint/2010/main" val="27443785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C6AD87-BA18-CB4B-4F7D-EB4BD43A4A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Arhitectura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en-GB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Tehnică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: </a:t>
            </a:r>
            <a:r>
              <a:rPr lang="en-GB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ConvLSTM</a:t>
            </a:r>
            <a:endParaRPr lang="en-RO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753D68-B30F-A570-3E82-AD45C9E91F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Conv (Convolutional):</a:t>
            </a:r>
            <a:r>
              <a:rPr lang="en-GB" dirty="0"/>
              <a:t> AI-</a:t>
            </a:r>
            <a:r>
              <a:rPr lang="en-GB" dirty="0" err="1"/>
              <a:t>ul</a:t>
            </a:r>
            <a:r>
              <a:rPr lang="en-GB" dirty="0"/>
              <a:t> se </a:t>
            </a:r>
            <a:r>
              <a:rPr lang="en-GB" dirty="0" err="1"/>
              <a:t>uită</a:t>
            </a:r>
            <a:r>
              <a:rPr lang="en-GB" dirty="0"/>
              <a:t> la </a:t>
            </a:r>
            <a:r>
              <a:rPr lang="en-GB" i="1" dirty="0" err="1"/>
              <a:t>forme</a:t>
            </a:r>
            <a:r>
              <a:rPr lang="en-GB" dirty="0"/>
              <a:t> </a:t>
            </a:r>
            <a:r>
              <a:rPr lang="en-GB" dirty="0" err="1"/>
              <a:t>și</a:t>
            </a:r>
            <a:r>
              <a:rPr lang="en-GB" dirty="0"/>
              <a:t> </a:t>
            </a:r>
            <a:r>
              <a:rPr lang="en-GB" i="1" dirty="0" err="1"/>
              <a:t>obiecte</a:t>
            </a:r>
            <a:r>
              <a:rPr lang="en-GB" dirty="0"/>
              <a:t> </a:t>
            </a:r>
            <a:r>
              <a:rPr lang="en-GB" dirty="0" err="1"/>
              <a:t>în</a:t>
            </a:r>
            <a:r>
              <a:rPr lang="en-GB" dirty="0"/>
              <a:t> </a:t>
            </a:r>
            <a:r>
              <a:rPr lang="en-GB" dirty="0" err="1"/>
              <a:t>fiecare</a:t>
            </a:r>
            <a:r>
              <a:rPr lang="en-GB" dirty="0"/>
              <a:t> </a:t>
            </a:r>
            <a:r>
              <a:rPr lang="en-GB" dirty="0" err="1"/>
              <a:t>cadru</a:t>
            </a:r>
            <a:r>
              <a:rPr lang="en-GB" dirty="0"/>
              <a:t> (ca </a:t>
            </a:r>
            <a:r>
              <a:rPr lang="en-GB" dirty="0" err="1"/>
              <a:t>ochiul</a:t>
            </a:r>
            <a:r>
              <a:rPr lang="en-GB" dirty="0"/>
              <a:t>).</a:t>
            </a:r>
          </a:p>
          <a:p>
            <a:r>
              <a:rPr lang="en-GB" b="1" dirty="0"/>
              <a:t>LSTM (Long Short-Term Memory):</a:t>
            </a:r>
            <a:r>
              <a:rPr lang="en-GB" dirty="0"/>
              <a:t> AI-</a:t>
            </a:r>
            <a:r>
              <a:rPr lang="en-GB" dirty="0" err="1"/>
              <a:t>ul</a:t>
            </a:r>
            <a:r>
              <a:rPr lang="en-GB" dirty="0"/>
              <a:t> </a:t>
            </a:r>
            <a:r>
              <a:rPr lang="en-GB" dirty="0" err="1"/>
              <a:t>ține</a:t>
            </a:r>
            <a:r>
              <a:rPr lang="en-GB" dirty="0"/>
              <a:t> </a:t>
            </a:r>
            <a:r>
              <a:rPr lang="en-GB" dirty="0" err="1"/>
              <a:t>minte</a:t>
            </a:r>
            <a:r>
              <a:rPr lang="en-GB" dirty="0"/>
              <a:t> </a:t>
            </a:r>
            <a:r>
              <a:rPr lang="en-GB" i="1" dirty="0" err="1"/>
              <a:t>ordinea</a:t>
            </a:r>
            <a:r>
              <a:rPr lang="en-GB" dirty="0"/>
              <a:t> </a:t>
            </a:r>
            <a:r>
              <a:rPr lang="en-GB" dirty="0" err="1"/>
              <a:t>mișcărilor</a:t>
            </a:r>
            <a:r>
              <a:rPr lang="en-GB" dirty="0"/>
              <a:t> (ca </a:t>
            </a:r>
            <a:r>
              <a:rPr lang="en-GB" dirty="0" err="1"/>
              <a:t>memoria</a:t>
            </a:r>
            <a:r>
              <a:rPr lang="en-GB" dirty="0"/>
              <a:t>).</a:t>
            </a:r>
          </a:p>
          <a:p>
            <a:r>
              <a:rPr lang="en-GB" b="1" dirty="0" err="1"/>
              <a:t>Sinergia</a:t>
            </a:r>
            <a:r>
              <a:rPr lang="en-GB" b="1" dirty="0"/>
              <a:t>:</a:t>
            </a:r>
            <a:r>
              <a:rPr lang="en-GB" dirty="0"/>
              <a:t> </a:t>
            </a:r>
            <a:r>
              <a:rPr lang="en-GB" dirty="0" err="1"/>
              <a:t>Această</a:t>
            </a:r>
            <a:r>
              <a:rPr lang="en-GB" dirty="0"/>
              <a:t> </a:t>
            </a:r>
            <a:r>
              <a:rPr lang="en-GB" dirty="0" err="1"/>
              <a:t>combinație</a:t>
            </a:r>
            <a:r>
              <a:rPr lang="en-GB" dirty="0"/>
              <a:t> </a:t>
            </a:r>
            <a:r>
              <a:rPr lang="en-GB" dirty="0" err="1"/>
              <a:t>îi</a:t>
            </a:r>
            <a:r>
              <a:rPr lang="en-GB" dirty="0"/>
              <a:t> </a:t>
            </a:r>
            <a:r>
              <a:rPr lang="en-GB" dirty="0" err="1"/>
              <a:t>permite</a:t>
            </a:r>
            <a:r>
              <a:rPr lang="en-GB" dirty="0"/>
              <a:t> </a:t>
            </a:r>
            <a:r>
              <a:rPr lang="en-GB" dirty="0" err="1"/>
              <a:t>să</a:t>
            </a:r>
            <a:r>
              <a:rPr lang="en-GB" dirty="0"/>
              <a:t> </a:t>
            </a:r>
            <a:r>
              <a:rPr lang="en-GB" dirty="0" err="1"/>
              <a:t>înțeleagă</a:t>
            </a:r>
            <a:r>
              <a:rPr lang="en-GB" dirty="0"/>
              <a:t> nu </a:t>
            </a:r>
            <a:r>
              <a:rPr lang="en-GB" dirty="0" err="1"/>
              <a:t>doar</a:t>
            </a:r>
            <a:r>
              <a:rPr lang="en-GB" dirty="0"/>
              <a:t> </a:t>
            </a:r>
            <a:r>
              <a:rPr lang="en-GB" i="1" dirty="0" err="1"/>
              <a:t>ce</a:t>
            </a:r>
            <a:r>
              <a:rPr lang="en-GB" dirty="0"/>
              <a:t> </a:t>
            </a:r>
            <a:r>
              <a:rPr lang="en-GB" dirty="0" err="1"/>
              <a:t>este</a:t>
            </a:r>
            <a:r>
              <a:rPr lang="en-GB" dirty="0"/>
              <a:t> </a:t>
            </a:r>
            <a:r>
              <a:rPr lang="en-GB" dirty="0" err="1"/>
              <a:t>în</a:t>
            </a:r>
            <a:r>
              <a:rPr lang="en-GB" dirty="0"/>
              <a:t> imagine, ci </a:t>
            </a:r>
            <a:r>
              <a:rPr lang="en-GB" dirty="0" err="1"/>
              <a:t>și</a:t>
            </a:r>
            <a:r>
              <a:rPr lang="en-GB" dirty="0"/>
              <a:t> </a:t>
            </a:r>
            <a:r>
              <a:rPr lang="en-GB" i="1" dirty="0"/>
              <a:t>cum</a:t>
            </a:r>
            <a:r>
              <a:rPr lang="en-GB" dirty="0"/>
              <a:t> se </a:t>
            </a:r>
            <a:r>
              <a:rPr lang="en-GB" dirty="0" err="1"/>
              <a:t>mișcă</a:t>
            </a:r>
            <a:r>
              <a:rPr lang="en-GB" dirty="0"/>
              <a:t> </a:t>
            </a:r>
            <a:r>
              <a:rPr lang="en-GB" dirty="0" err="1"/>
              <a:t>lucrurile</a:t>
            </a:r>
            <a:r>
              <a:rPr lang="en-GB" dirty="0"/>
              <a:t> </a:t>
            </a:r>
            <a:r>
              <a:rPr lang="en-GB" dirty="0" err="1"/>
              <a:t>în</a:t>
            </a:r>
            <a:r>
              <a:rPr lang="en-GB" dirty="0"/>
              <a:t> </a:t>
            </a:r>
            <a:r>
              <a:rPr lang="en-GB" dirty="0" err="1"/>
              <a:t>timp.</a:t>
            </a:r>
            <a:endParaRPr lang="en-GB" dirty="0"/>
          </a:p>
          <a:p>
            <a:endParaRPr lang="en-RO" dirty="0"/>
          </a:p>
        </p:txBody>
      </p:sp>
    </p:spTree>
    <p:extLst>
      <p:ext uri="{BB962C8B-B14F-4D97-AF65-F5344CB8AC3E}">
        <p14:creationId xmlns:p14="http://schemas.microsoft.com/office/powerpoint/2010/main" val="27766679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B297EA-1F1C-AC19-8629-E035253CD9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Interfața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en-GB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Utilizatorului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(</a:t>
            </a:r>
            <a:r>
              <a:rPr lang="en-GB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Streamlit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)</a:t>
            </a:r>
            <a:endParaRPr lang="en-RO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62AA41-8490-24E2-A0E6-A36E88735F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 err="1"/>
              <a:t>Monitorizare</a:t>
            </a:r>
            <a:r>
              <a:rPr lang="en-GB" b="1" dirty="0"/>
              <a:t> Live:</a:t>
            </a:r>
            <a:r>
              <a:rPr lang="en-GB" dirty="0"/>
              <a:t> </a:t>
            </a:r>
            <a:r>
              <a:rPr lang="en-GB" dirty="0" err="1"/>
              <a:t>Panou</a:t>
            </a:r>
            <a:r>
              <a:rPr lang="en-GB" dirty="0"/>
              <a:t> de control </a:t>
            </a:r>
            <a:r>
              <a:rPr lang="en-GB" dirty="0" err="1"/>
              <a:t>intuitiv</a:t>
            </a:r>
            <a:r>
              <a:rPr lang="en-GB" dirty="0"/>
              <a:t> </a:t>
            </a:r>
            <a:r>
              <a:rPr lang="en-GB" dirty="0" err="1"/>
              <a:t>creat</a:t>
            </a:r>
            <a:r>
              <a:rPr lang="en-GB" dirty="0"/>
              <a:t> </a:t>
            </a:r>
            <a:r>
              <a:rPr lang="en-GB" dirty="0" err="1"/>
              <a:t>în</a:t>
            </a:r>
            <a:r>
              <a:rPr lang="en-GB" dirty="0"/>
              <a:t> Python.</a:t>
            </a:r>
          </a:p>
          <a:p>
            <a:r>
              <a:rPr lang="en-GB" b="1" dirty="0" err="1"/>
              <a:t>Grafic</a:t>
            </a:r>
            <a:r>
              <a:rPr lang="en-GB" b="1" dirty="0"/>
              <a:t> de </a:t>
            </a:r>
            <a:r>
              <a:rPr lang="en-GB" b="1" dirty="0" err="1"/>
              <a:t>Scor</a:t>
            </a:r>
            <a:r>
              <a:rPr lang="en-GB" b="1" dirty="0"/>
              <a:t>:</a:t>
            </a:r>
            <a:r>
              <a:rPr lang="en-GB" dirty="0"/>
              <a:t> O </a:t>
            </a:r>
            <a:r>
              <a:rPr lang="en-GB" dirty="0" err="1"/>
              <a:t>linie</a:t>
            </a:r>
            <a:r>
              <a:rPr lang="en-GB" dirty="0"/>
              <a:t> care </a:t>
            </a:r>
            <a:r>
              <a:rPr lang="en-GB" dirty="0" err="1"/>
              <a:t>pulsează</a:t>
            </a:r>
            <a:r>
              <a:rPr lang="en-GB" dirty="0"/>
              <a:t> </a:t>
            </a:r>
            <a:r>
              <a:rPr lang="en-GB" dirty="0" err="1"/>
              <a:t>în</a:t>
            </a:r>
            <a:r>
              <a:rPr lang="en-GB" dirty="0"/>
              <a:t> </a:t>
            </a:r>
            <a:r>
              <a:rPr lang="en-GB" dirty="0" err="1"/>
              <a:t>timp</a:t>
            </a:r>
            <a:r>
              <a:rPr lang="en-GB" dirty="0"/>
              <a:t> real. </a:t>
            </a:r>
            <a:r>
              <a:rPr lang="en-GB" dirty="0" err="1"/>
              <a:t>Dacă</a:t>
            </a:r>
            <a:r>
              <a:rPr lang="en-GB" dirty="0"/>
              <a:t> </a:t>
            </a:r>
            <a:r>
              <a:rPr lang="en-GB" dirty="0" err="1"/>
              <a:t>linia</a:t>
            </a:r>
            <a:r>
              <a:rPr lang="en-GB" dirty="0"/>
              <a:t> </a:t>
            </a:r>
            <a:r>
              <a:rPr lang="en-GB" dirty="0" err="1"/>
              <a:t>trece</a:t>
            </a:r>
            <a:r>
              <a:rPr lang="en-GB" dirty="0"/>
              <a:t> de </a:t>
            </a:r>
            <a:r>
              <a:rPr lang="en-GB" dirty="0" err="1"/>
              <a:t>pragul</a:t>
            </a:r>
            <a:r>
              <a:rPr lang="en-GB" dirty="0"/>
              <a:t> </a:t>
            </a:r>
            <a:r>
              <a:rPr lang="en-GB" dirty="0" err="1"/>
              <a:t>roșu</a:t>
            </a:r>
            <a:r>
              <a:rPr lang="en-GB" dirty="0"/>
              <a:t>, </a:t>
            </a:r>
            <a:r>
              <a:rPr lang="en-GB" dirty="0" err="1"/>
              <a:t>sistemul</a:t>
            </a:r>
            <a:r>
              <a:rPr lang="en-GB" dirty="0"/>
              <a:t> </a:t>
            </a:r>
            <a:r>
              <a:rPr lang="en-GB" dirty="0" err="1"/>
              <a:t>știe</a:t>
            </a:r>
            <a:r>
              <a:rPr lang="en-GB" dirty="0"/>
              <a:t> </a:t>
            </a:r>
            <a:r>
              <a:rPr lang="en-GB" dirty="0" err="1"/>
              <a:t>că</a:t>
            </a:r>
            <a:r>
              <a:rPr lang="en-GB" dirty="0"/>
              <a:t> se </a:t>
            </a:r>
            <a:r>
              <a:rPr lang="en-GB" dirty="0" err="1"/>
              <a:t>întâmplă</a:t>
            </a:r>
            <a:r>
              <a:rPr lang="en-GB" dirty="0"/>
              <a:t> o </a:t>
            </a:r>
            <a:r>
              <a:rPr lang="en-GB" dirty="0" err="1"/>
              <a:t>anomalie</a:t>
            </a:r>
            <a:r>
              <a:rPr lang="en-GB" dirty="0"/>
              <a:t>.</a:t>
            </a:r>
          </a:p>
          <a:p>
            <a:r>
              <a:rPr lang="en-GB" b="1" dirty="0" err="1"/>
              <a:t>Flexibilitate</a:t>
            </a:r>
            <a:r>
              <a:rPr lang="en-GB" b="1" dirty="0"/>
              <a:t>:</a:t>
            </a:r>
            <a:r>
              <a:rPr lang="en-GB" dirty="0"/>
              <a:t> </a:t>
            </a:r>
            <a:r>
              <a:rPr lang="en-GB" dirty="0" err="1"/>
              <a:t>Utilizatorul</a:t>
            </a:r>
            <a:r>
              <a:rPr lang="en-GB" dirty="0"/>
              <a:t> </a:t>
            </a:r>
            <a:r>
              <a:rPr lang="en-GB" dirty="0" err="1"/>
              <a:t>poate</a:t>
            </a:r>
            <a:r>
              <a:rPr lang="en-GB" dirty="0"/>
              <a:t> seta „</a:t>
            </a:r>
            <a:r>
              <a:rPr lang="en-GB" dirty="0" err="1"/>
              <a:t>sensibilitatea</a:t>
            </a:r>
            <a:r>
              <a:rPr lang="en-GB" dirty="0"/>
              <a:t>” </a:t>
            </a:r>
            <a:r>
              <a:rPr lang="en-GB" dirty="0" err="1"/>
              <a:t>sistemului</a:t>
            </a:r>
            <a:r>
              <a:rPr lang="en-GB" dirty="0"/>
              <a:t> </a:t>
            </a:r>
            <a:r>
              <a:rPr lang="en-GB" dirty="0" err="1"/>
              <a:t>printr</a:t>
            </a:r>
            <a:r>
              <a:rPr lang="en-GB" dirty="0"/>
              <a:t>-un slider de </a:t>
            </a:r>
            <a:r>
              <a:rPr lang="en-GB" dirty="0" err="1"/>
              <a:t>prag</a:t>
            </a:r>
            <a:r>
              <a:rPr lang="en-GB" dirty="0"/>
              <a:t> (Threshold).</a:t>
            </a:r>
          </a:p>
          <a:p>
            <a:endParaRPr lang="en-RO" dirty="0"/>
          </a:p>
        </p:txBody>
      </p:sp>
    </p:spTree>
    <p:extLst>
      <p:ext uri="{BB962C8B-B14F-4D97-AF65-F5344CB8AC3E}">
        <p14:creationId xmlns:p14="http://schemas.microsoft.com/office/powerpoint/2010/main" val="3819517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CDA4CF-CC80-FE5A-2402-3E637EDDC7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Exemplu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– </a:t>
            </a:r>
            <a:r>
              <a:rPr lang="en-GB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Detectarea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en-GB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unei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en-GB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agresiuni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/</a:t>
            </a:r>
            <a:r>
              <a:rPr lang="en-GB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furt</a:t>
            </a:r>
            <a:endParaRPr lang="en-RO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A03DFF-61DB-6EC8-8FC7-28B061421F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 err="1"/>
              <a:t>Scenariu</a:t>
            </a:r>
            <a:r>
              <a:rPr lang="en-GB" b="1" dirty="0"/>
              <a:t>:</a:t>
            </a:r>
            <a:r>
              <a:rPr lang="en-GB" dirty="0"/>
              <a:t> Un </a:t>
            </a:r>
            <a:r>
              <a:rPr lang="en-GB" dirty="0" err="1"/>
              <a:t>magazin</a:t>
            </a:r>
            <a:r>
              <a:rPr lang="en-GB" dirty="0"/>
              <a:t> </a:t>
            </a:r>
            <a:r>
              <a:rPr lang="en-GB" dirty="0" err="1"/>
              <a:t>după</a:t>
            </a:r>
            <a:r>
              <a:rPr lang="en-GB" dirty="0"/>
              <a:t> </a:t>
            </a:r>
            <a:r>
              <a:rPr lang="en-GB" dirty="0" err="1"/>
              <a:t>închidere</a:t>
            </a:r>
            <a:r>
              <a:rPr lang="en-GB" dirty="0"/>
              <a:t>.</a:t>
            </a:r>
          </a:p>
          <a:p>
            <a:r>
              <a:rPr lang="en-GB" b="1" dirty="0" err="1"/>
              <a:t>Normalitate</a:t>
            </a:r>
            <a:r>
              <a:rPr lang="en-GB" b="1" dirty="0"/>
              <a:t>:</a:t>
            </a:r>
            <a:r>
              <a:rPr lang="en-GB" dirty="0"/>
              <a:t> </a:t>
            </a:r>
            <a:r>
              <a:rPr lang="en-GB" dirty="0" err="1"/>
              <a:t>Rafturi</a:t>
            </a:r>
            <a:r>
              <a:rPr lang="en-GB" dirty="0"/>
              <a:t> </a:t>
            </a:r>
            <a:r>
              <a:rPr lang="en-GB" dirty="0" err="1"/>
              <a:t>goale</a:t>
            </a:r>
            <a:r>
              <a:rPr lang="en-GB" dirty="0"/>
              <a:t>, </a:t>
            </a:r>
            <a:r>
              <a:rPr lang="en-GB" dirty="0" err="1"/>
              <a:t>nicio</a:t>
            </a:r>
            <a:r>
              <a:rPr lang="en-GB" dirty="0"/>
              <a:t> </a:t>
            </a:r>
            <a:r>
              <a:rPr lang="en-GB" dirty="0" err="1"/>
              <a:t>mișcare</a:t>
            </a:r>
            <a:r>
              <a:rPr lang="en-GB" dirty="0"/>
              <a:t>.</a:t>
            </a:r>
          </a:p>
          <a:p>
            <a:r>
              <a:rPr lang="en-GB" b="1" dirty="0" err="1"/>
              <a:t>Anomalie</a:t>
            </a:r>
            <a:r>
              <a:rPr lang="en-GB" b="1" dirty="0"/>
              <a:t>:</a:t>
            </a:r>
            <a:r>
              <a:rPr lang="en-GB" dirty="0"/>
              <a:t> O </a:t>
            </a:r>
            <a:r>
              <a:rPr lang="en-GB" dirty="0" err="1"/>
              <a:t>persoană</a:t>
            </a:r>
            <a:r>
              <a:rPr lang="en-GB" dirty="0"/>
              <a:t> care </a:t>
            </a:r>
            <a:r>
              <a:rPr lang="en-GB" dirty="0" err="1"/>
              <a:t>intră</a:t>
            </a:r>
            <a:r>
              <a:rPr lang="en-GB" dirty="0"/>
              <a:t> pe </a:t>
            </a:r>
            <a:r>
              <a:rPr lang="en-GB" dirty="0" err="1"/>
              <a:t>fereastră</a:t>
            </a:r>
            <a:r>
              <a:rPr lang="en-GB" dirty="0"/>
              <a:t> </a:t>
            </a:r>
            <a:r>
              <a:rPr lang="en-GB" dirty="0" err="1"/>
              <a:t>sau</a:t>
            </a:r>
            <a:r>
              <a:rPr lang="en-GB" dirty="0"/>
              <a:t> </a:t>
            </a:r>
            <a:r>
              <a:rPr lang="en-GB" dirty="0" err="1"/>
              <a:t>fuge</a:t>
            </a:r>
            <a:r>
              <a:rPr lang="en-GB" dirty="0"/>
              <a:t> </a:t>
            </a:r>
            <a:r>
              <a:rPr lang="en-GB" dirty="0" err="1"/>
              <a:t>printre</a:t>
            </a:r>
            <a:r>
              <a:rPr lang="en-GB" dirty="0"/>
              <a:t> </a:t>
            </a:r>
            <a:r>
              <a:rPr lang="en-GB" dirty="0" err="1"/>
              <a:t>rafturi</a:t>
            </a:r>
            <a:r>
              <a:rPr lang="en-GB" dirty="0"/>
              <a:t>.</a:t>
            </a:r>
          </a:p>
          <a:p>
            <a:r>
              <a:rPr lang="en-GB" b="1" dirty="0" err="1"/>
              <a:t>Reacția</a:t>
            </a:r>
            <a:r>
              <a:rPr lang="en-GB" b="1" dirty="0"/>
              <a:t> AI:</a:t>
            </a:r>
            <a:r>
              <a:rPr lang="en-GB" dirty="0"/>
              <a:t> </a:t>
            </a:r>
            <a:r>
              <a:rPr lang="en-GB" dirty="0" err="1"/>
              <a:t>Scorul</a:t>
            </a:r>
            <a:r>
              <a:rPr lang="en-GB" dirty="0"/>
              <a:t> MSE (Mean Squared Error) </a:t>
            </a:r>
            <a:r>
              <a:rPr lang="en-GB" dirty="0" err="1"/>
              <a:t>explodează</a:t>
            </a:r>
            <a:r>
              <a:rPr lang="en-GB" dirty="0"/>
              <a:t>, </a:t>
            </a:r>
            <a:r>
              <a:rPr lang="en-GB" dirty="0" err="1"/>
              <a:t>ecranul</a:t>
            </a:r>
            <a:r>
              <a:rPr lang="en-GB" dirty="0"/>
              <a:t> </a:t>
            </a:r>
            <a:r>
              <a:rPr lang="en-GB" dirty="0" err="1"/>
              <a:t>devine</a:t>
            </a:r>
            <a:r>
              <a:rPr lang="en-GB" dirty="0"/>
              <a:t> </a:t>
            </a:r>
            <a:r>
              <a:rPr lang="en-GB" dirty="0" err="1"/>
              <a:t>roșu</a:t>
            </a:r>
            <a:r>
              <a:rPr lang="en-GB" dirty="0"/>
              <a:t> </a:t>
            </a:r>
            <a:r>
              <a:rPr lang="en-GB" dirty="0" err="1"/>
              <a:t>și</a:t>
            </a:r>
            <a:r>
              <a:rPr lang="en-GB" dirty="0"/>
              <a:t> </a:t>
            </a:r>
            <a:r>
              <a:rPr lang="en-GB" dirty="0" err="1"/>
              <a:t>emite</a:t>
            </a:r>
            <a:r>
              <a:rPr lang="en-GB" dirty="0"/>
              <a:t> </a:t>
            </a:r>
            <a:r>
              <a:rPr lang="en-GB" dirty="0" err="1"/>
              <a:t>alerta</a:t>
            </a:r>
            <a:r>
              <a:rPr lang="en-GB" dirty="0"/>
              <a:t>: „ANORMAL”.</a:t>
            </a:r>
          </a:p>
          <a:p>
            <a:endParaRPr lang="en-RO" dirty="0"/>
          </a:p>
        </p:txBody>
      </p:sp>
    </p:spTree>
    <p:extLst>
      <p:ext uri="{BB962C8B-B14F-4D97-AF65-F5344CB8AC3E}">
        <p14:creationId xmlns:p14="http://schemas.microsoft.com/office/powerpoint/2010/main" val="32197981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E9F23-25AE-C9BB-5FBB-023DA5E4AD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Aplicații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en-GB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în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en-GB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Viața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en-GB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Reală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(I) – </a:t>
            </a:r>
            <a:r>
              <a:rPr lang="en-GB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Siguranță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en-GB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Publică</a:t>
            </a:r>
            <a:endParaRPr lang="en-RO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13EF75-A67F-90FE-F47A-B188A2F664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 err="1"/>
              <a:t>Metrou</a:t>
            </a:r>
            <a:r>
              <a:rPr lang="en-GB" b="1" dirty="0"/>
              <a:t> </a:t>
            </a:r>
            <a:r>
              <a:rPr lang="en-GB" b="1" dirty="0" err="1"/>
              <a:t>și</a:t>
            </a:r>
            <a:r>
              <a:rPr lang="en-GB" b="1" dirty="0"/>
              <a:t> </a:t>
            </a:r>
            <a:r>
              <a:rPr lang="en-GB" b="1" dirty="0" err="1"/>
              <a:t>Gări</a:t>
            </a:r>
            <a:r>
              <a:rPr lang="en-GB" b="1" dirty="0"/>
              <a:t>:</a:t>
            </a:r>
            <a:r>
              <a:rPr lang="en-GB" dirty="0"/>
              <a:t> </a:t>
            </a:r>
            <a:r>
              <a:rPr lang="en-GB" dirty="0" err="1"/>
              <a:t>Detectarea</a:t>
            </a:r>
            <a:r>
              <a:rPr lang="en-GB" dirty="0"/>
              <a:t> </a:t>
            </a:r>
            <a:r>
              <a:rPr lang="en-GB" dirty="0" err="1"/>
              <a:t>căderilor</a:t>
            </a:r>
            <a:r>
              <a:rPr lang="en-GB" dirty="0"/>
              <a:t> pe </a:t>
            </a:r>
            <a:r>
              <a:rPr lang="en-GB" dirty="0" err="1"/>
              <a:t>șine</a:t>
            </a:r>
            <a:r>
              <a:rPr lang="en-GB" dirty="0"/>
              <a:t> </a:t>
            </a:r>
            <a:r>
              <a:rPr lang="en-GB" dirty="0" err="1"/>
              <a:t>sau</a:t>
            </a:r>
            <a:r>
              <a:rPr lang="en-GB" dirty="0"/>
              <a:t> a </a:t>
            </a:r>
            <a:r>
              <a:rPr lang="en-GB" dirty="0" err="1"/>
              <a:t>persoanelor</a:t>
            </a:r>
            <a:r>
              <a:rPr lang="en-GB" dirty="0"/>
              <a:t> care </a:t>
            </a:r>
            <a:r>
              <a:rPr lang="en-GB" dirty="0" err="1"/>
              <a:t>merg</a:t>
            </a:r>
            <a:r>
              <a:rPr lang="en-GB" dirty="0"/>
              <a:t> </a:t>
            </a:r>
            <a:r>
              <a:rPr lang="en-GB" dirty="0" err="1"/>
              <a:t>în</a:t>
            </a:r>
            <a:r>
              <a:rPr lang="en-GB" dirty="0"/>
              <a:t> </a:t>
            </a:r>
            <a:r>
              <a:rPr lang="en-GB" dirty="0" err="1"/>
              <a:t>direcții</a:t>
            </a:r>
            <a:r>
              <a:rPr lang="en-GB" dirty="0"/>
              <a:t> </a:t>
            </a:r>
            <a:r>
              <a:rPr lang="en-GB" dirty="0" err="1"/>
              <a:t>interzise</a:t>
            </a:r>
            <a:r>
              <a:rPr lang="en-GB" dirty="0"/>
              <a:t>.</a:t>
            </a:r>
          </a:p>
          <a:p>
            <a:r>
              <a:rPr lang="en-GB" b="1" dirty="0" err="1"/>
              <a:t>Aeroporturi</a:t>
            </a:r>
            <a:r>
              <a:rPr lang="en-GB" b="1" dirty="0"/>
              <a:t>:</a:t>
            </a:r>
            <a:r>
              <a:rPr lang="en-GB" dirty="0"/>
              <a:t> </a:t>
            </a:r>
            <a:r>
              <a:rPr lang="en-GB" dirty="0" err="1"/>
              <a:t>Identificarea</a:t>
            </a:r>
            <a:r>
              <a:rPr lang="en-GB" dirty="0"/>
              <a:t> </a:t>
            </a:r>
            <a:r>
              <a:rPr lang="en-GB" dirty="0" err="1"/>
              <a:t>bagajelor</a:t>
            </a:r>
            <a:r>
              <a:rPr lang="en-GB" dirty="0"/>
              <a:t> </a:t>
            </a:r>
            <a:r>
              <a:rPr lang="en-GB" dirty="0" err="1"/>
              <a:t>uitate</a:t>
            </a:r>
            <a:r>
              <a:rPr lang="en-GB" dirty="0"/>
              <a:t> </a:t>
            </a:r>
            <a:r>
              <a:rPr lang="en-GB" dirty="0" err="1"/>
              <a:t>sau</a:t>
            </a:r>
            <a:r>
              <a:rPr lang="en-GB" dirty="0"/>
              <a:t> a </a:t>
            </a:r>
            <a:r>
              <a:rPr lang="en-GB" dirty="0" err="1"/>
              <a:t>accesului</a:t>
            </a:r>
            <a:r>
              <a:rPr lang="en-GB" dirty="0"/>
              <a:t> </a:t>
            </a:r>
            <a:r>
              <a:rPr lang="en-GB" dirty="0" err="1"/>
              <a:t>neautorizat</a:t>
            </a:r>
            <a:r>
              <a:rPr lang="en-GB" dirty="0"/>
              <a:t> </a:t>
            </a:r>
            <a:r>
              <a:rPr lang="en-GB" dirty="0" err="1"/>
              <a:t>în</a:t>
            </a:r>
            <a:r>
              <a:rPr lang="en-GB" dirty="0"/>
              <a:t> zone </a:t>
            </a:r>
            <a:r>
              <a:rPr lang="en-GB" dirty="0" err="1"/>
              <a:t>restricționate</a:t>
            </a:r>
            <a:r>
              <a:rPr lang="en-GB" dirty="0"/>
              <a:t>.</a:t>
            </a:r>
          </a:p>
          <a:p>
            <a:r>
              <a:rPr lang="en-GB" b="1" dirty="0" err="1"/>
              <a:t>Orașe</a:t>
            </a:r>
            <a:r>
              <a:rPr lang="en-GB" b="1" dirty="0"/>
              <a:t> </a:t>
            </a:r>
            <a:r>
              <a:rPr lang="en-GB" b="1" dirty="0" err="1"/>
              <a:t>Inteligente</a:t>
            </a:r>
            <a:r>
              <a:rPr lang="en-GB" b="1" dirty="0"/>
              <a:t> (Smart Cities):</a:t>
            </a:r>
            <a:r>
              <a:rPr lang="en-GB" dirty="0"/>
              <a:t> </a:t>
            </a:r>
            <a:r>
              <a:rPr lang="en-GB" dirty="0" err="1"/>
              <a:t>Monitorizarea</a:t>
            </a:r>
            <a:r>
              <a:rPr lang="en-GB" dirty="0"/>
              <a:t> </a:t>
            </a:r>
            <a:r>
              <a:rPr lang="en-GB" dirty="0" err="1"/>
              <a:t>intersecțiilor</a:t>
            </a:r>
            <a:r>
              <a:rPr lang="en-GB" dirty="0"/>
              <a:t> </a:t>
            </a:r>
            <a:r>
              <a:rPr lang="en-GB" dirty="0" err="1"/>
              <a:t>pentru</a:t>
            </a:r>
            <a:r>
              <a:rPr lang="en-GB" dirty="0"/>
              <a:t> </a:t>
            </a:r>
            <a:r>
              <a:rPr lang="en-GB" dirty="0" err="1"/>
              <a:t>accidente</a:t>
            </a:r>
            <a:r>
              <a:rPr lang="en-GB" dirty="0"/>
              <a:t> </a:t>
            </a:r>
            <a:r>
              <a:rPr lang="en-GB" dirty="0" err="1"/>
              <a:t>rutiere</a:t>
            </a:r>
            <a:r>
              <a:rPr lang="en-GB" dirty="0"/>
              <a:t> </a:t>
            </a:r>
            <a:r>
              <a:rPr lang="en-GB" dirty="0" err="1"/>
              <a:t>raportate</a:t>
            </a:r>
            <a:r>
              <a:rPr lang="en-GB" dirty="0"/>
              <a:t> instant </a:t>
            </a:r>
            <a:r>
              <a:rPr lang="en-GB" dirty="0" err="1"/>
              <a:t>către</a:t>
            </a:r>
            <a:r>
              <a:rPr lang="en-GB" dirty="0"/>
              <a:t> 112.</a:t>
            </a:r>
          </a:p>
          <a:p>
            <a:endParaRPr lang="en-RO" dirty="0"/>
          </a:p>
        </p:txBody>
      </p:sp>
    </p:spTree>
    <p:extLst>
      <p:ext uri="{BB962C8B-B14F-4D97-AF65-F5344CB8AC3E}">
        <p14:creationId xmlns:p14="http://schemas.microsoft.com/office/powerpoint/2010/main" val="34356208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5280D2-BC10-FE69-C8E3-FAB5D92E4E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Aplicații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en-GB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în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en-GB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Viața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en-GB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Reală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(II) – Industrial &amp; Retail</a:t>
            </a:r>
            <a:endParaRPr lang="en-RO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56A027-8024-BB17-4587-73FF87EAB2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 err="1"/>
              <a:t>Fabrici</a:t>
            </a:r>
            <a:r>
              <a:rPr lang="en-GB" b="1" dirty="0"/>
              <a:t>:</a:t>
            </a:r>
            <a:r>
              <a:rPr lang="en-GB" dirty="0"/>
              <a:t> </a:t>
            </a:r>
            <a:r>
              <a:rPr lang="en-GB" dirty="0" err="1"/>
              <a:t>Monitorizarea</a:t>
            </a:r>
            <a:r>
              <a:rPr lang="en-GB" dirty="0"/>
              <a:t> </a:t>
            </a:r>
            <a:r>
              <a:rPr lang="en-GB" dirty="0" err="1"/>
              <a:t>benzilor</a:t>
            </a:r>
            <a:r>
              <a:rPr lang="en-GB" dirty="0"/>
              <a:t> de </a:t>
            </a:r>
            <a:r>
              <a:rPr lang="en-GB" dirty="0" err="1"/>
              <a:t>producție</a:t>
            </a:r>
            <a:r>
              <a:rPr lang="en-GB" dirty="0"/>
              <a:t> </a:t>
            </a:r>
            <a:r>
              <a:rPr lang="en-GB" dirty="0" err="1"/>
              <a:t>pentru</a:t>
            </a:r>
            <a:r>
              <a:rPr lang="en-GB" dirty="0"/>
              <a:t> a </a:t>
            </a:r>
            <a:r>
              <a:rPr lang="en-GB" dirty="0" err="1"/>
              <a:t>detecta</a:t>
            </a:r>
            <a:r>
              <a:rPr lang="en-GB" dirty="0"/>
              <a:t> </a:t>
            </a:r>
            <a:r>
              <a:rPr lang="en-GB" dirty="0" err="1"/>
              <a:t>piese</a:t>
            </a:r>
            <a:r>
              <a:rPr lang="en-GB" dirty="0"/>
              <a:t> </a:t>
            </a:r>
            <a:r>
              <a:rPr lang="en-GB" dirty="0" err="1"/>
              <a:t>defecte</a:t>
            </a:r>
            <a:r>
              <a:rPr lang="en-GB" dirty="0"/>
              <a:t> </a:t>
            </a:r>
            <a:r>
              <a:rPr lang="en-GB" dirty="0" err="1"/>
              <a:t>sau</a:t>
            </a:r>
            <a:r>
              <a:rPr lang="en-GB" dirty="0"/>
              <a:t> </a:t>
            </a:r>
            <a:r>
              <a:rPr lang="en-GB" dirty="0" err="1"/>
              <a:t>utilaje</a:t>
            </a:r>
            <a:r>
              <a:rPr lang="en-GB" dirty="0"/>
              <a:t> care se </a:t>
            </a:r>
            <a:r>
              <a:rPr lang="en-GB" dirty="0" err="1"/>
              <a:t>mișcă</a:t>
            </a:r>
            <a:r>
              <a:rPr lang="en-GB" dirty="0"/>
              <a:t> anormal (</a:t>
            </a:r>
            <a:r>
              <a:rPr lang="en-GB" dirty="0" err="1"/>
              <a:t>prevenirea</a:t>
            </a:r>
            <a:r>
              <a:rPr lang="en-GB" dirty="0"/>
              <a:t> </a:t>
            </a:r>
            <a:r>
              <a:rPr lang="en-GB" dirty="0" err="1"/>
              <a:t>accidentelor</a:t>
            </a:r>
            <a:r>
              <a:rPr lang="en-GB" dirty="0"/>
              <a:t> de </a:t>
            </a:r>
            <a:r>
              <a:rPr lang="en-GB" dirty="0" err="1"/>
              <a:t>muncă</a:t>
            </a:r>
            <a:r>
              <a:rPr lang="en-GB" dirty="0"/>
              <a:t>).</a:t>
            </a:r>
          </a:p>
          <a:p>
            <a:r>
              <a:rPr lang="en-GB" b="1" dirty="0"/>
              <a:t>Retail:</a:t>
            </a:r>
            <a:r>
              <a:rPr lang="en-GB" dirty="0"/>
              <a:t> Analiza </a:t>
            </a:r>
            <a:r>
              <a:rPr lang="en-GB" dirty="0" err="1"/>
              <a:t>fluxului</a:t>
            </a:r>
            <a:r>
              <a:rPr lang="en-GB" dirty="0"/>
              <a:t> de </a:t>
            </a:r>
            <a:r>
              <a:rPr lang="en-GB" dirty="0" err="1"/>
              <a:t>clienți</a:t>
            </a:r>
            <a:r>
              <a:rPr lang="en-GB" dirty="0"/>
              <a:t> </a:t>
            </a:r>
            <a:r>
              <a:rPr lang="en-GB" dirty="0" err="1"/>
              <a:t>și</a:t>
            </a:r>
            <a:r>
              <a:rPr lang="en-GB" dirty="0"/>
              <a:t> </a:t>
            </a:r>
            <a:r>
              <a:rPr lang="en-GB" dirty="0" err="1"/>
              <a:t>detectarea</a:t>
            </a:r>
            <a:r>
              <a:rPr lang="en-GB" dirty="0"/>
              <a:t> </a:t>
            </a:r>
            <a:r>
              <a:rPr lang="en-GB" dirty="0" err="1"/>
              <a:t>comportamentelor</a:t>
            </a:r>
            <a:r>
              <a:rPr lang="en-GB" dirty="0"/>
              <a:t> </a:t>
            </a:r>
            <a:r>
              <a:rPr lang="en-GB" dirty="0" err="1"/>
              <a:t>suspecte</a:t>
            </a:r>
            <a:r>
              <a:rPr lang="en-GB" dirty="0"/>
              <a:t> (</a:t>
            </a:r>
            <a:r>
              <a:rPr lang="en-GB" dirty="0" err="1"/>
              <a:t>prevenirea</a:t>
            </a:r>
            <a:r>
              <a:rPr lang="en-GB" dirty="0"/>
              <a:t> </a:t>
            </a:r>
            <a:r>
              <a:rPr lang="en-GB" dirty="0" err="1"/>
              <a:t>furturilor</a:t>
            </a:r>
            <a:r>
              <a:rPr lang="en-GB" dirty="0"/>
              <a:t>).</a:t>
            </a:r>
          </a:p>
          <a:p>
            <a:r>
              <a:rPr lang="en-GB" b="1" dirty="0" err="1"/>
              <a:t>Spitale</a:t>
            </a:r>
            <a:r>
              <a:rPr lang="en-GB" b="1" dirty="0"/>
              <a:t>:</a:t>
            </a:r>
            <a:r>
              <a:rPr lang="en-GB" dirty="0"/>
              <a:t> </a:t>
            </a:r>
            <a:r>
              <a:rPr lang="en-GB" dirty="0" err="1"/>
              <a:t>Monitorizarea</a:t>
            </a:r>
            <a:r>
              <a:rPr lang="en-GB" dirty="0"/>
              <a:t> </a:t>
            </a:r>
            <a:r>
              <a:rPr lang="en-GB" dirty="0" err="1"/>
              <a:t>pacienților</a:t>
            </a:r>
            <a:r>
              <a:rPr lang="en-GB" dirty="0"/>
              <a:t> </a:t>
            </a:r>
            <a:r>
              <a:rPr lang="en-GB" dirty="0" err="1"/>
              <a:t>fragili</a:t>
            </a:r>
            <a:r>
              <a:rPr lang="en-GB" dirty="0"/>
              <a:t> </a:t>
            </a:r>
            <a:r>
              <a:rPr lang="en-GB" dirty="0" err="1"/>
              <a:t>pentru</a:t>
            </a:r>
            <a:r>
              <a:rPr lang="en-GB" dirty="0"/>
              <a:t> a </a:t>
            </a:r>
            <a:r>
              <a:rPr lang="en-GB" dirty="0" err="1"/>
              <a:t>detecta</a:t>
            </a:r>
            <a:r>
              <a:rPr lang="en-GB" dirty="0"/>
              <a:t> </a:t>
            </a:r>
            <a:r>
              <a:rPr lang="en-GB" dirty="0" err="1"/>
              <a:t>căderile</a:t>
            </a:r>
            <a:r>
              <a:rPr lang="en-GB" dirty="0"/>
              <a:t> din pat </a:t>
            </a:r>
            <a:r>
              <a:rPr lang="en-GB" dirty="0" err="1"/>
              <a:t>fără</a:t>
            </a:r>
            <a:r>
              <a:rPr lang="en-GB" dirty="0"/>
              <a:t> a </a:t>
            </a:r>
            <a:r>
              <a:rPr lang="en-GB" dirty="0" err="1"/>
              <a:t>încălca</a:t>
            </a:r>
            <a:r>
              <a:rPr lang="en-GB" dirty="0"/>
              <a:t> </a:t>
            </a:r>
            <a:r>
              <a:rPr lang="en-GB" dirty="0" err="1"/>
              <a:t>intimitatea</a:t>
            </a:r>
            <a:r>
              <a:rPr lang="en-GB" dirty="0"/>
              <a:t> (AI-</a:t>
            </a:r>
            <a:r>
              <a:rPr lang="en-GB" dirty="0" err="1"/>
              <a:t>ul</a:t>
            </a:r>
            <a:r>
              <a:rPr lang="en-GB" dirty="0"/>
              <a:t> </a:t>
            </a:r>
            <a:r>
              <a:rPr lang="en-GB" dirty="0" err="1"/>
              <a:t>vede</a:t>
            </a:r>
            <a:r>
              <a:rPr lang="en-GB" dirty="0"/>
              <a:t> </a:t>
            </a:r>
            <a:r>
              <a:rPr lang="en-GB" dirty="0" err="1"/>
              <a:t>doar</a:t>
            </a:r>
            <a:r>
              <a:rPr lang="en-GB" dirty="0"/>
              <a:t> </a:t>
            </a:r>
            <a:r>
              <a:rPr lang="en-GB" dirty="0" err="1"/>
              <a:t>forme</a:t>
            </a:r>
            <a:r>
              <a:rPr lang="en-GB" dirty="0"/>
              <a:t>, nu </a:t>
            </a:r>
            <a:r>
              <a:rPr lang="en-GB" dirty="0" err="1"/>
              <a:t>detalii</a:t>
            </a:r>
            <a:r>
              <a:rPr lang="en-GB" dirty="0"/>
              <a:t> </a:t>
            </a:r>
            <a:r>
              <a:rPr lang="en-GB" dirty="0" err="1"/>
              <a:t>personale</a:t>
            </a:r>
            <a:r>
              <a:rPr lang="en-GB" dirty="0"/>
              <a:t>).</a:t>
            </a:r>
          </a:p>
          <a:p>
            <a:endParaRPr lang="en-RO" dirty="0"/>
          </a:p>
        </p:txBody>
      </p:sp>
    </p:spTree>
    <p:extLst>
      <p:ext uri="{BB962C8B-B14F-4D97-AF65-F5344CB8AC3E}">
        <p14:creationId xmlns:p14="http://schemas.microsoft.com/office/powerpoint/2010/main" val="42207540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B8C65C-D94E-5F88-F726-A2E72D974D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Avantajele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en-GB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Sistemului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en-GB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nostru</a:t>
            </a:r>
            <a:endParaRPr lang="en-RO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90CC5D-891D-5F3B-E4BA-ADCC58CDD4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 err="1"/>
              <a:t>Scalabilitate</a:t>
            </a:r>
            <a:r>
              <a:rPr lang="en-GB" b="1" dirty="0"/>
              <a:t>:</a:t>
            </a:r>
            <a:r>
              <a:rPr lang="en-GB" dirty="0"/>
              <a:t> </a:t>
            </a:r>
            <a:r>
              <a:rPr lang="en-GB" dirty="0" err="1"/>
              <a:t>Poate</a:t>
            </a:r>
            <a:r>
              <a:rPr lang="en-GB" dirty="0"/>
              <a:t> </a:t>
            </a:r>
            <a:r>
              <a:rPr lang="en-GB" dirty="0" err="1"/>
              <a:t>monitoriza</a:t>
            </a:r>
            <a:r>
              <a:rPr lang="en-GB" dirty="0"/>
              <a:t> </a:t>
            </a:r>
            <a:r>
              <a:rPr lang="en-GB" dirty="0" err="1"/>
              <a:t>sute</a:t>
            </a:r>
            <a:r>
              <a:rPr lang="en-GB" dirty="0"/>
              <a:t> de </a:t>
            </a:r>
            <a:r>
              <a:rPr lang="en-GB" dirty="0" err="1"/>
              <a:t>camere</a:t>
            </a:r>
            <a:r>
              <a:rPr lang="en-GB" dirty="0"/>
              <a:t> </a:t>
            </a:r>
            <a:r>
              <a:rPr lang="en-GB" dirty="0" err="1"/>
              <a:t>simultan</a:t>
            </a:r>
            <a:r>
              <a:rPr lang="en-GB" dirty="0"/>
              <a:t>.</a:t>
            </a:r>
          </a:p>
          <a:p>
            <a:r>
              <a:rPr lang="en-GB" b="1" dirty="0" err="1"/>
              <a:t>Costuri</a:t>
            </a:r>
            <a:r>
              <a:rPr lang="en-GB" b="1" dirty="0"/>
              <a:t> </a:t>
            </a:r>
            <a:r>
              <a:rPr lang="en-GB" b="1" dirty="0" err="1"/>
              <a:t>Reduse</a:t>
            </a:r>
            <a:r>
              <a:rPr lang="en-GB" b="1" dirty="0"/>
              <a:t>:</a:t>
            </a:r>
            <a:r>
              <a:rPr lang="en-GB" dirty="0"/>
              <a:t> Nu </a:t>
            </a:r>
            <a:r>
              <a:rPr lang="en-GB" dirty="0" err="1"/>
              <a:t>necesită</a:t>
            </a:r>
            <a:r>
              <a:rPr lang="en-GB" dirty="0"/>
              <a:t> </a:t>
            </a:r>
            <a:r>
              <a:rPr lang="en-GB" dirty="0" err="1"/>
              <a:t>paznici</a:t>
            </a:r>
            <a:r>
              <a:rPr lang="en-GB" dirty="0"/>
              <a:t> care </a:t>
            </a:r>
            <a:r>
              <a:rPr lang="en-GB" dirty="0" err="1"/>
              <a:t>să</a:t>
            </a:r>
            <a:r>
              <a:rPr lang="en-GB" dirty="0"/>
              <a:t> se </a:t>
            </a:r>
            <a:r>
              <a:rPr lang="en-GB" dirty="0" err="1"/>
              <a:t>uite</a:t>
            </a:r>
            <a:r>
              <a:rPr lang="en-GB" dirty="0"/>
              <a:t> la </a:t>
            </a:r>
            <a:r>
              <a:rPr lang="en-GB" dirty="0" err="1"/>
              <a:t>ecrane</a:t>
            </a:r>
            <a:r>
              <a:rPr lang="en-GB" dirty="0"/>
              <a:t> 24/7.</a:t>
            </a:r>
          </a:p>
          <a:p>
            <a:r>
              <a:rPr lang="en-GB" b="1" dirty="0" err="1"/>
              <a:t>Viteză</a:t>
            </a:r>
            <a:r>
              <a:rPr lang="en-GB" b="1" dirty="0"/>
              <a:t>:</a:t>
            </a:r>
            <a:r>
              <a:rPr lang="en-GB" dirty="0"/>
              <a:t> </a:t>
            </a:r>
            <a:r>
              <a:rPr lang="en-GB" dirty="0" err="1"/>
              <a:t>Alerta</a:t>
            </a:r>
            <a:r>
              <a:rPr lang="en-GB" dirty="0"/>
              <a:t> </a:t>
            </a:r>
            <a:r>
              <a:rPr lang="en-GB" dirty="0" err="1"/>
              <a:t>este</a:t>
            </a:r>
            <a:r>
              <a:rPr lang="en-GB" dirty="0"/>
              <a:t> </a:t>
            </a:r>
            <a:r>
              <a:rPr lang="en-GB" dirty="0" err="1"/>
              <a:t>dată</a:t>
            </a:r>
            <a:r>
              <a:rPr lang="en-GB" dirty="0"/>
              <a:t> </a:t>
            </a:r>
            <a:r>
              <a:rPr lang="en-GB" dirty="0" err="1"/>
              <a:t>în</a:t>
            </a:r>
            <a:r>
              <a:rPr lang="en-GB" dirty="0"/>
              <a:t> </a:t>
            </a:r>
            <a:r>
              <a:rPr lang="en-GB" dirty="0" err="1"/>
              <a:t>mai</a:t>
            </a:r>
            <a:r>
              <a:rPr lang="en-GB" dirty="0"/>
              <a:t> </a:t>
            </a:r>
            <a:r>
              <a:rPr lang="en-GB" dirty="0" err="1"/>
              <a:t>puțin</a:t>
            </a:r>
            <a:r>
              <a:rPr lang="en-GB" dirty="0"/>
              <a:t> de o </a:t>
            </a:r>
            <a:r>
              <a:rPr lang="en-GB" dirty="0" err="1"/>
              <a:t>secundă</a:t>
            </a:r>
            <a:r>
              <a:rPr lang="en-GB" dirty="0"/>
              <a:t> de la </a:t>
            </a:r>
            <a:r>
              <a:rPr lang="en-GB" dirty="0" err="1"/>
              <a:t>producerea</a:t>
            </a:r>
            <a:r>
              <a:rPr lang="en-GB" dirty="0"/>
              <a:t> </a:t>
            </a:r>
            <a:r>
              <a:rPr lang="en-GB" dirty="0" err="1"/>
              <a:t>incidentului</a:t>
            </a:r>
            <a:r>
              <a:rPr lang="en-GB" dirty="0"/>
              <a:t>.</a:t>
            </a:r>
          </a:p>
          <a:p>
            <a:endParaRPr lang="en-RO" dirty="0"/>
          </a:p>
        </p:txBody>
      </p:sp>
    </p:spTree>
    <p:extLst>
      <p:ext uri="{BB962C8B-B14F-4D97-AF65-F5344CB8AC3E}">
        <p14:creationId xmlns:p14="http://schemas.microsoft.com/office/powerpoint/2010/main" val="27428029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C56B01-8202-7776-140A-4B3CD6D55D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Concluzii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en-GB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și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en-GB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Viitor</a:t>
            </a:r>
            <a:endParaRPr lang="en-RO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A203AF-E2BA-C7BF-D440-3C08482CB4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 err="1"/>
              <a:t>Concluzie</a:t>
            </a:r>
            <a:r>
              <a:rPr lang="en-GB" b="1" dirty="0"/>
              <a:t>:</a:t>
            </a:r>
            <a:r>
              <a:rPr lang="en-GB" dirty="0"/>
              <a:t> </a:t>
            </a:r>
            <a:r>
              <a:rPr lang="en-GB" dirty="0" err="1"/>
              <a:t>Proiectul</a:t>
            </a:r>
            <a:r>
              <a:rPr lang="en-GB" dirty="0"/>
              <a:t> </a:t>
            </a:r>
            <a:r>
              <a:rPr lang="en-GB" dirty="0" err="1"/>
              <a:t>transformă</a:t>
            </a:r>
            <a:r>
              <a:rPr lang="en-GB" dirty="0"/>
              <a:t> </a:t>
            </a:r>
            <a:r>
              <a:rPr lang="en-GB" dirty="0" err="1"/>
              <a:t>camerele</a:t>
            </a:r>
            <a:r>
              <a:rPr lang="en-GB" dirty="0"/>
              <a:t> „</a:t>
            </a:r>
            <a:r>
              <a:rPr lang="en-GB" dirty="0" err="1"/>
              <a:t>pasive</a:t>
            </a:r>
            <a:r>
              <a:rPr lang="en-GB" dirty="0"/>
              <a:t>” </a:t>
            </a:r>
            <a:r>
              <a:rPr lang="en-GB" dirty="0" err="1"/>
              <a:t>în</a:t>
            </a:r>
            <a:r>
              <a:rPr lang="en-GB" dirty="0"/>
              <a:t> </a:t>
            </a:r>
            <a:r>
              <a:rPr lang="en-GB" dirty="0" err="1"/>
              <a:t>senzori</a:t>
            </a:r>
            <a:r>
              <a:rPr lang="en-GB" dirty="0"/>
              <a:t> „</a:t>
            </a:r>
            <a:r>
              <a:rPr lang="en-GB" dirty="0" err="1"/>
              <a:t>activi</a:t>
            </a:r>
            <a:r>
              <a:rPr lang="en-GB" dirty="0"/>
              <a:t>” de </a:t>
            </a:r>
            <a:r>
              <a:rPr lang="en-GB" dirty="0" err="1"/>
              <a:t>securitate</a:t>
            </a:r>
            <a:r>
              <a:rPr lang="en-GB" dirty="0"/>
              <a:t>.</a:t>
            </a:r>
          </a:p>
          <a:p>
            <a:r>
              <a:rPr lang="en-GB" b="1" dirty="0" err="1"/>
              <a:t>Viitor</a:t>
            </a:r>
            <a:r>
              <a:rPr lang="en-GB" b="1" dirty="0"/>
              <a:t>:</a:t>
            </a:r>
            <a:r>
              <a:rPr lang="en-GB" dirty="0"/>
              <a:t> </a:t>
            </a:r>
            <a:r>
              <a:rPr lang="en-GB" dirty="0" err="1"/>
              <a:t>Integrarea</a:t>
            </a:r>
            <a:r>
              <a:rPr lang="en-GB" dirty="0"/>
              <a:t> cu </a:t>
            </a:r>
            <a:r>
              <a:rPr lang="en-GB" dirty="0" err="1"/>
              <a:t>sisteme</a:t>
            </a:r>
            <a:r>
              <a:rPr lang="en-GB" dirty="0"/>
              <a:t> de </a:t>
            </a:r>
            <a:r>
              <a:rPr lang="en-GB" dirty="0" err="1"/>
              <a:t>recunoaștere</a:t>
            </a:r>
            <a:r>
              <a:rPr lang="en-GB" dirty="0"/>
              <a:t> a </a:t>
            </a:r>
            <a:r>
              <a:rPr lang="en-GB" dirty="0" err="1"/>
              <a:t>obiectelor</a:t>
            </a:r>
            <a:r>
              <a:rPr lang="en-GB" dirty="0"/>
              <a:t> (ex: </a:t>
            </a:r>
            <a:r>
              <a:rPr lang="en-GB" dirty="0" err="1"/>
              <a:t>detectarea</a:t>
            </a:r>
            <a:r>
              <a:rPr lang="en-GB" dirty="0"/>
              <a:t> </a:t>
            </a:r>
            <a:r>
              <a:rPr lang="en-GB" dirty="0" err="1"/>
              <a:t>armelor</a:t>
            </a:r>
            <a:r>
              <a:rPr lang="en-GB" dirty="0"/>
              <a:t>) </a:t>
            </a:r>
            <a:r>
              <a:rPr lang="en-GB" dirty="0" err="1"/>
              <a:t>sau</a:t>
            </a:r>
            <a:r>
              <a:rPr lang="en-GB" dirty="0"/>
              <a:t> </a:t>
            </a:r>
            <a:r>
              <a:rPr lang="en-GB" dirty="0" err="1"/>
              <a:t>trimiterea</a:t>
            </a:r>
            <a:r>
              <a:rPr lang="en-GB" dirty="0"/>
              <a:t> </a:t>
            </a:r>
            <a:r>
              <a:rPr lang="en-GB" dirty="0" err="1"/>
              <a:t>alertelor</a:t>
            </a:r>
            <a:r>
              <a:rPr lang="en-GB" dirty="0"/>
              <a:t> direct pe </a:t>
            </a:r>
            <a:r>
              <a:rPr lang="en-GB" dirty="0" err="1"/>
              <a:t>telefonul</a:t>
            </a:r>
            <a:r>
              <a:rPr lang="en-GB" dirty="0"/>
              <a:t> </a:t>
            </a:r>
            <a:r>
              <a:rPr lang="en-GB" dirty="0" err="1"/>
              <a:t>mobil</a:t>
            </a:r>
            <a:r>
              <a:rPr lang="en-GB" dirty="0"/>
              <a:t> al </a:t>
            </a:r>
            <a:r>
              <a:rPr lang="en-GB" dirty="0" err="1"/>
              <a:t>polițistului</a:t>
            </a:r>
            <a:r>
              <a:rPr lang="en-GB" dirty="0"/>
              <a:t> </a:t>
            </a:r>
            <a:r>
              <a:rPr lang="en-GB" dirty="0" err="1"/>
              <a:t>cel</a:t>
            </a:r>
            <a:r>
              <a:rPr lang="en-GB" dirty="0"/>
              <a:t> </a:t>
            </a:r>
            <a:r>
              <a:rPr lang="en-GB" dirty="0" err="1"/>
              <a:t>mai</a:t>
            </a:r>
            <a:r>
              <a:rPr lang="en-GB" dirty="0"/>
              <a:t> </a:t>
            </a:r>
            <a:r>
              <a:rPr lang="en-GB" dirty="0" err="1"/>
              <a:t>apropiat</a:t>
            </a:r>
            <a:r>
              <a:rPr lang="en-GB" dirty="0"/>
              <a:t>.</a:t>
            </a:r>
          </a:p>
          <a:p>
            <a:endParaRPr lang="en-RO" dirty="0"/>
          </a:p>
        </p:txBody>
      </p:sp>
    </p:spTree>
    <p:extLst>
      <p:ext uri="{BB962C8B-B14F-4D97-AF65-F5344CB8AC3E}">
        <p14:creationId xmlns:p14="http://schemas.microsoft.com/office/powerpoint/2010/main" val="66131050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04C7E"/>
      </a:dk2>
      <a:lt2>
        <a:srgbClr val="EBEBEB"/>
      </a:lt2>
      <a:accent1>
        <a:srgbClr val="94CE67"/>
      </a:accent1>
      <a:accent2>
        <a:srgbClr val="49D1CD"/>
      </a:accent2>
      <a:accent3>
        <a:srgbClr val="61A5D6"/>
      </a:accent3>
      <a:accent4>
        <a:srgbClr val="9D8CD3"/>
      </a:accent4>
      <a:accent5>
        <a:srgbClr val="E45C8A"/>
      </a:accent5>
      <a:accent6>
        <a:srgbClr val="F98C61"/>
      </a:accent6>
      <a:hlink>
        <a:srgbClr val="AAF172"/>
      </a:hlink>
      <a:folHlink>
        <a:srgbClr val="E7F19A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E44E6A2F-09CD-4BE0-B42D-107FF03CEED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Celestial</Template>
  <TotalTime>13</TotalTime>
  <Words>590</Words>
  <Application>Microsoft Macintosh PowerPoint</Application>
  <PresentationFormat>Widescreen</PresentationFormat>
  <Paragraphs>44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-webkit-standard</vt:lpstr>
      <vt:lpstr>Arial</vt:lpstr>
      <vt:lpstr>Calibri</vt:lpstr>
      <vt:lpstr>Calibri Light</vt:lpstr>
      <vt:lpstr>Celestial</vt:lpstr>
      <vt:lpstr>Ai video surveillance</vt:lpstr>
      <vt:lpstr>Ochiul uman oboseste</vt:lpstr>
      <vt:lpstr>Ochiul digital nu doarme niciodata</vt:lpstr>
      <vt:lpstr>Cum „gândește” AI-ul nostru?</vt:lpstr>
      <vt:lpstr>Arhitectura Tehnică: ConvLSTM</vt:lpstr>
      <vt:lpstr>Interfața Utilizatorului (Streamlit)</vt:lpstr>
      <vt:lpstr>Exemplu – Detectarea unei agresiuni/furt</vt:lpstr>
      <vt:lpstr>Aplicații în Viața Reală (I) – Siguranță Publică</vt:lpstr>
      <vt:lpstr>Aplicații în Viața Reală (II) – Industrial &amp; Retail</vt:lpstr>
      <vt:lpstr>Avantajele Sistemului nostru</vt:lpstr>
      <vt:lpstr>Concluzii și Viitor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Bogdan-Ştefan PRALEA (140052)</dc:creator>
  <cp:lastModifiedBy>Bogdan-Ştefan PRALEA (140052)</cp:lastModifiedBy>
  <cp:revision>1</cp:revision>
  <dcterms:created xsi:type="dcterms:W3CDTF">2026-02-11T16:13:09Z</dcterms:created>
  <dcterms:modified xsi:type="dcterms:W3CDTF">2026-02-11T16:26:53Z</dcterms:modified>
</cp:coreProperties>
</file>