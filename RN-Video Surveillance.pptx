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9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3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1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0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1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1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2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7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8929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1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53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05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96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4F2C9-2E6A-4BA4-92C0-B7EB606208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3BC-218A-4B98-AC50-156883175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25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79C29-AA8A-62D4-5532-FB79B7175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8960" y="1122363"/>
            <a:ext cx="7559039" cy="3027360"/>
          </a:xfrm>
        </p:spPr>
        <p:txBody>
          <a:bodyPr>
            <a:normAutofit/>
          </a:bodyPr>
          <a:lstStyle/>
          <a:p>
            <a:r>
              <a:rPr lang="en-US" sz="5000" b="1"/>
              <a:t>Detectarea Anomaliilor Comportamentale în Supravegherea Video</a:t>
            </a:r>
            <a:endParaRPr lang="en-US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1801A-248C-AFA8-1FBD-AA0DEBBC9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8010" y="4149724"/>
            <a:ext cx="7539989" cy="11080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1"/>
                </a:solidFill>
              </a:rPr>
              <a:t>Pralea bogdan-Stefan</a:t>
            </a: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1"/>
                </a:solidFill>
              </a:rPr>
              <a:t>631ab</a:t>
            </a:r>
          </a:p>
          <a:p>
            <a:pPr>
              <a:lnSpc>
                <a:spcPct val="110000"/>
              </a:lnSpc>
            </a:pPr>
            <a:r>
              <a:rPr lang="en-US" sz="1500">
                <a:solidFill>
                  <a:schemeClr val="tx1"/>
                </a:solidFill>
              </a:rPr>
              <a:t>s.g.2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320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50DA2C-7F05-DA4F-1A99-E8D73924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/>
              <a:t>Descriere Nevoie</a:t>
            </a:r>
            <a:endParaRPr lang="en-US" sz="40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E0D1-227C-A1D5-E5C4-6D1B6C368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lvl="0"/>
            <a:r>
              <a:rPr lang="en-US" sz="1800" b="1"/>
              <a:t>Domeniul Industrial de Interes (DII):</a:t>
            </a:r>
            <a:r>
              <a:rPr lang="en-US" sz="1800"/>
              <a:t> </a:t>
            </a:r>
            <a:r>
              <a:rPr lang="en-US" sz="1800" b="1"/>
              <a:t>Securitate/Supraveghere/Smart Cities.</a:t>
            </a:r>
            <a:endParaRPr lang="en-US" sz="1800"/>
          </a:p>
          <a:p>
            <a:pPr lvl="0"/>
            <a:r>
              <a:rPr lang="en-US" sz="1800" b="1"/>
              <a:t>Ideea Generală:</a:t>
            </a:r>
            <a:r>
              <a:rPr lang="en-US" sz="1800"/>
              <a:t> Dezvoltarea unui Sistem de Inteligență Artificială (SIA) care analizează secvențe video pentru a detecta automat </a:t>
            </a:r>
            <a:r>
              <a:rPr lang="en-US" sz="1800" b="1"/>
              <a:t>anomaliile comportamentale</a:t>
            </a:r>
            <a:r>
              <a:rPr lang="en-US" sz="1800"/>
              <a:t> (evenimente care se abat de la norma stabilită), cum ar fi: abandonarea unui obiect, o luptă, căderea unei persoane sau accesul într-o zonă restricționată.</a:t>
            </a:r>
          </a:p>
          <a:p>
            <a:endParaRPr lang="en-US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5469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D66163-A8C6-279A-D3A8-D4737EC3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/>
              <a:t>Stadiul Actual &amp; Tendințe</a:t>
            </a:r>
            <a:br>
              <a:rPr lang="en-US" sz="4000"/>
            </a:br>
            <a:endParaRPr lang="en-US" sz="40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AF2D-BBBF-A7B6-6B7C-0E49594F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lvl="1"/>
            <a:r>
              <a:rPr lang="en-US" sz="1800" b="1"/>
              <a:t>Actual:</a:t>
            </a:r>
            <a:r>
              <a:rPr lang="en-US" sz="1800"/>
              <a:t> Sistemele clasice de supraveghere se bazează pe detectarea mișcării (motion detection), generând un număr mare de alarme false. Supravegherea umană continuă este obositoare și ineficientă.</a:t>
            </a:r>
          </a:p>
          <a:p>
            <a:pPr lvl="1"/>
            <a:r>
              <a:rPr lang="en-US" sz="1800" b="1"/>
              <a:t>Tendințe:</a:t>
            </a:r>
            <a:r>
              <a:rPr lang="en-US" sz="1800"/>
              <a:t> Utilizarea Deep Learning (CNN + RNN sau 3D-CNN) pentru a modela </a:t>
            </a:r>
            <a:r>
              <a:rPr lang="en-US" sz="1800" b="1"/>
              <a:t>comportamentul normal</a:t>
            </a:r>
            <a:r>
              <a:rPr lang="en-US" sz="1800"/>
              <a:t> și a semnala doar abaterile semnificative, transformând supravegherea din reactivă în proactivă.</a:t>
            </a:r>
          </a:p>
          <a:p>
            <a:pPr lvl="1"/>
            <a:r>
              <a:rPr lang="en-US" sz="1800" b="1"/>
              <a:t>Activitate de Îmbunătățit:</a:t>
            </a:r>
            <a:r>
              <a:rPr lang="en-US" sz="1800"/>
              <a:t> Reducerea </a:t>
            </a:r>
            <a:r>
              <a:rPr lang="en-US" sz="1800" b="1"/>
              <a:t>alaramelor false (False Positive Rate)</a:t>
            </a:r>
            <a:r>
              <a:rPr lang="en-US" sz="1800"/>
              <a:t> și creșterea vitezei de identificare a evenimentelor de securitate critice.</a:t>
            </a:r>
          </a:p>
          <a:p>
            <a:endParaRPr lang="en-US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976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67ED4B-EA9E-F046-D8F2-01F4B650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3700" b="1"/>
              <a:t>Beneficii Măsurabile</a:t>
            </a:r>
            <a:endParaRPr lang="en-US" sz="37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3092-ED81-7E86-0949-1B5257EC8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lvl="1"/>
            <a:r>
              <a:rPr lang="en-US" sz="1800" b="1"/>
              <a:t>Timp de Răspuns:</a:t>
            </a:r>
            <a:r>
              <a:rPr lang="en-US" sz="1800"/>
              <a:t> O reducere de </a:t>
            </a:r>
            <a:r>
              <a:rPr lang="en-US" sz="1800" b="1"/>
              <a:t>70-90%</a:t>
            </a:r>
            <a:r>
              <a:rPr lang="en-US" sz="1800"/>
              <a:t> a timpului necesar pentru a identifica un incident, comparativ cu supravegherea manuală.</a:t>
            </a:r>
          </a:p>
          <a:p>
            <a:pPr lvl="1"/>
            <a:r>
              <a:rPr lang="en-US" sz="1800" b="1"/>
              <a:t>Eficiența Operatorului:</a:t>
            </a:r>
            <a:r>
              <a:rPr lang="en-US" sz="1800"/>
              <a:t> Reducerea cu </a:t>
            </a:r>
            <a:r>
              <a:rPr lang="en-US" sz="1800" b="1"/>
              <a:t>80%</a:t>
            </a:r>
            <a:r>
              <a:rPr lang="en-US" sz="1800"/>
              <a:t> a numărului de alarme false, permițând operatorilor să se concentreze doar pe amenințările reale.</a:t>
            </a:r>
          </a:p>
          <a:p>
            <a:pPr lvl="1"/>
            <a:r>
              <a:rPr lang="en-US" sz="1800" b="1"/>
              <a:t>Costuri:</a:t>
            </a:r>
            <a:r>
              <a:rPr lang="en-US" sz="1800"/>
              <a:t> Reducerea costurilor operaționale asociate cu intervențiile inutile.</a:t>
            </a:r>
          </a:p>
          <a:p>
            <a:endParaRPr lang="en-US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3009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FD6804-CCC4-07E4-5172-159A1B99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/>
              <a:t>Surse Relevante</a:t>
            </a:r>
            <a:endParaRPr lang="en-US" sz="40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D014-158F-F4CB-83E2-4766EBB4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lvl="1"/>
            <a:r>
              <a:rPr lang="en-US" sz="1800" i="1"/>
              <a:t>Articole despre arhitecturile 3D-CNN sau combinații CNN-LSTM pentru analiza acțiunilor și detectarea anomaliilor video.</a:t>
            </a:r>
            <a:endParaRPr lang="en-US" sz="1800"/>
          </a:p>
          <a:p>
            <a:pPr lvl="1"/>
            <a:r>
              <a:rPr lang="en-US" sz="1800" i="1"/>
              <a:t>Studii de caz privind aplicarea viziunii artificiale (Computer Vision) în sistemele de supraveghere inteligente (Intelligent Video Surveillance).</a:t>
            </a:r>
            <a:endParaRPr lang="en-US" sz="1800"/>
          </a:p>
          <a:p>
            <a:pPr lvl="1"/>
            <a:r>
              <a:rPr lang="en-US" sz="1800" i="1"/>
              <a:t>Seturi de date publice (ex. Avenue, ShanghaiTech) utilizate pentru antrenarea modelelor de detectare a anomaliilor.</a:t>
            </a:r>
            <a:endParaRPr lang="en-US" sz="1800"/>
          </a:p>
          <a:p>
            <a:endParaRPr lang="en-US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8680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169DC1-E69C-83A2-E9B0-01544C440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002" y="478301"/>
            <a:ext cx="8608564" cy="3956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80DA75-69E7-E685-7DCF-C13C578AA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03" y="4434987"/>
            <a:ext cx="8594763" cy="157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404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28ABC0-14E6-6F11-6416-977C288D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b="1" dirty="0" err="1"/>
              <a:t>Descrierea</a:t>
            </a:r>
            <a:r>
              <a:rPr lang="en-US" b="1" dirty="0"/>
              <a:t> </a:t>
            </a:r>
            <a:r>
              <a:rPr lang="en-US" b="1" dirty="0" err="1"/>
              <a:t>Sistemului</a:t>
            </a:r>
            <a:r>
              <a:rPr lang="en-US" b="1" dirty="0"/>
              <a:t> cu </a:t>
            </a:r>
            <a:r>
              <a:rPr lang="en-US" b="1" dirty="0" err="1"/>
              <a:t>Inteligență</a:t>
            </a:r>
            <a:r>
              <a:rPr lang="en-US" b="1" dirty="0"/>
              <a:t> </a:t>
            </a:r>
            <a:r>
              <a:rPr lang="en-US" b="1" dirty="0" err="1"/>
              <a:t>Artificială</a:t>
            </a:r>
            <a:endParaRPr lang="en-US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50D81-1B44-C32F-91EE-18F320190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Intelligent Behavior Monitor (IBM)</a:t>
            </a:r>
          </a:p>
          <a:p>
            <a:r>
              <a:rPr lang="en-US" dirty="0"/>
              <a:t>Un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o </a:t>
            </a:r>
            <a:r>
              <a:rPr lang="en-US" dirty="0" err="1"/>
              <a:t>combinație</a:t>
            </a:r>
            <a:r>
              <a:rPr lang="en-US" dirty="0"/>
              <a:t> de </a:t>
            </a:r>
            <a:r>
              <a:rPr lang="en-US" dirty="0" err="1"/>
              <a:t>Rețele</a:t>
            </a:r>
            <a:r>
              <a:rPr lang="en-US" dirty="0"/>
              <a:t> </a:t>
            </a:r>
            <a:r>
              <a:rPr lang="en-US" dirty="0" err="1"/>
              <a:t>Neurale</a:t>
            </a:r>
            <a:r>
              <a:rPr lang="en-US" dirty="0"/>
              <a:t>: </a:t>
            </a:r>
            <a:r>
              <a:rPr lang="en-US" b="1" dirty="0"/>
              <a:t>CNN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extracția</a:t>
            </a:r>
            <a:r>
              <a:rPr lang="en-US" dirty="0"/>
              <a:t> </a:t>
            </a:r>
            <a:r>
              <a:rPr lang="en-US" dirty="0" err="1"/>
              <a:t>caracteristicilor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cadru</a:t>
            </a:r>
            <a:r>
              <a:rPr lang="en-US" dirty="0"/>
              <a:t> (</a:t>
            </a:r>
            <a:r>
              <a:rPr lang="en-US" dirty="0" err="1"/>
              <a:t>spațiale</a:t>
            </a:r>
            <a:r>
              <a:rPr lang="en-US" dirty="0"/>
              <a:t>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b="1" dirty="0"/>
              <a:t>RNN (LSTM/GRU)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dependențele</a:t>
            </a:r>
            <a:r>
              <a:rPr lang="en-US" dirty="0"/>
              <a:t> </a:t>
            </a:r>
            <a:r>
              <a:rPr lang="en-US" dirty="0" err="1"/>
              <a:t>temporale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cadre (</a:t>
            </a:r>
            <a:r>
              <a:rPr lang="en-US" dirty="0" err="1"/>
              <a:t>comportamentale</a:t>
            </a:r>
            <a:r>
              <a:rPr lang="en-US" dirty="0"/>
              <a:t>).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învață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genereze</a:t>
            </a:r>
            <a:r>
              <a:rPr lang="en-US" dirty="0"/>
              <a:t> o </a:t>
            </a:r>
            <a:r>
              <a:rPr lang="en-US" i="1" dirty="0" err="1"/>
              <a:t>probabilitate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acțiune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o </a:t>
            </a:r>
            <a:r>
              <a:rPr lang="en-US" dirty="0" err="1"/>
              <a:t>probabilitate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scăzută</a:t>
            </a:r>
            <a:r>
              <a:rPr lang="en-US" dirty="0"/>
              <a:t> </a:t>
            </a:r>
            <a:r>
              <a:rPr lang="en-US" dirty="0" err="1"/>
              <a:t>semnalează</a:t>
            </a:r>
            <a:r>
              <a:rPr lang="en-US" dirty="0"/>
              <a:t> o </a:t>
            </a:r>
            <a:r>
              <a:rPr lang="en-US" dirty="0" err="1"/>
              <a:t>anomalie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903979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41B0AD-5F30-31EC-C65A-315B6140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b="1" dirty="0" err="1"/>
              <a:t>Capabilități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Roluri</a:t>
            </a:r>
            <a:r>
              <a:rPr lang="en-US" b="1" dirty="0"/>
              <a:t> SIA</a:t>
            </a:r>
            <a:endParaRPr lang="en-US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A81-050C-9438-4A22-35E08CFD7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Capabilități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Extracția</a:t>
            </a:r>
            <a:r>
              <a:rPr lang="en-US" dirty="0"/>
              <a:t> </a:t>
            </a:r>
            <a:r>
              <a:rPr lang="en-US" dirty="0" err="1"/>
              <a:t>caracteristicilor</a:t>
            </a:r>
            <a:r>
              <a:rPr lang="en-US" dirty="0"/>
              <a:t> </a:t>
            </a:r>
            <a:r>
              <a:rPr lang="en-US" dirty="0" err="1"/>
              <a:t>spațiale</a:t>
            </a:r>
            <a:r>
              <a:rPr lang="en-US" dirty="0"/>
              <a:t>, </a:t>
            </a:r>
            <a:r>
              <a:rPr lang="en-US" dirty="0" err="1"/>
              <a:t>Modelarea</a:t>
            </a:r>
            <a:r>
              <a:rPr lang="en-US" dirty="0"/>
              <a:t> </a:t>
            </a:r>
            <a:r>
              <a:rPr lang="en-US" dirty="0" err="1"/>
              <a:t>secvențială</a:t>
            </a:r>
            <a:r>
              <a:rPr lang="en-US" dirty="0"/>
              <a:t> a </a:t>
            </a:r>
            <a:r>
              <a:rPr lang="en-US" dirty="0" err="1"/>
              <a:t>comportamentului</a:t>
            </a:r>
            <a:r>
              <a:rPr lang="en-US" dirty="0"/>
              <a:t>, </a:t>
            </a:r>
            <a:r>
              <a:rPr lang="en-US" dirty="0" err="1"/>
              <a:t>Calculul</a:t>
            </a:r>
            <a:r>
              <a:rPr lang="en-US" dirty="0"/>
              <a:t> </a:t>
            </a:r>
            <a:r>
              <a:rPr lang="en-US" dirty="0" err="1"/>
              <a:t>scorului</a:t>
            </a:r>
            <a:r>
              <a:rPr lang="en-US" dirty="0"/>
              <a:t> de </a:t>
            </a:r>
            <a:r>
              <a:rPr lang="en-US" dirty="0" err="1"/>
              <a:t>anomalie</a:t>
            </a:r>
            <a:r>
              <a:rPr lang="en-US" dirty="0"/>
              <a:t>, </a:t>
            </a:r>
            <a:r>
              <a:rPr lang="en-US" dirty="0" err="1"/>
              <a:t>Generarea</a:t>
            </a:r>
            <a:r>
              <a:rPr lang="en-US" dirty="0"/>
              <a:t> de </a:t>
            </a:r>
            <a:r>
              <a:rPr lang="en-US" dirty="0" err="1"/>
              <a:t>alerte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scor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Roluri</a:t>
            </a:r>
            <a:r>
              <a:rPr lang="en-US" b="1" dirty="0"/>
              <a:t>:</a:t>
            </a:r>
            <a:r>
              <a:rPr lang="en-US" dirty="0"/>
              <a:t> Modul de </a:t>
            </a:r>
            <a:r>
              <a:rPr lang="en-US" dirty="0" err="1"/>
              <a:t>analiză</a:t>
            </a:r>
            <a:r>
              <a:rPr lang="en-US" dirty="0"/>
              <a:t> video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 (video stream processing), </a:t>
            </a:r>
            <a:r>
              <a:rPr lang="en-US" dirty="0" err="1"/>
              <a:t>integrat</a:t>
            </a:r>
            <a:r>
              <a:rPr lang="en-US" dirty="0"/>
              <a:t> cu </a:t>
            </a:r>
            <a:r>
              <a:rPr lang="en-US" dirty="0" err="1"/>
              <a:t>sistemul</a:t>
            </a:r>
            <a:r>
              <a:rPr lang="en-US" dirty="0"/>
              <a:t> CCTV existent.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360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FA7349-78C6-0526-6AB9-429C290D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b="1" dirty="0" err="1"/>
              <a:t>Arhitectura</a:t>
            </a:r>
            <a:endParaRPr lang="en-US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939B-F379-957F-8D61-ACEF839E4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b="1" dirty="0"/>
              <a:t>Software: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b="1" dirty="0"/>
              <a:t>Modul de </a:t>
            </a:r>
            <a:r>
              <a:rPr lang="en-US" b="1" dirty="0" err="1"/>
              <a:t>Ingestie</a:t>
            </a:r>
            <a:r>
              <a:rPr lang="en-US" b="1" dirty="0"/>
              <a:t> Video: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</a:t>
            </a:r>
            <a:r>
              <a:rPr lang="en-US" dirty="0" err="1"/>
              <a:t>fluxul</a:t>
            </a:r>
            <a:r>
              <a:rPr lang="en-US" dirty="0"/>
              <a:t> video (RTSP/IP Camera).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b="1" dirty="0"/>
              <a:t>Modelul RN (CNN + RNN):</a:t>
            </a:r>
            <a:r>
              <a:rPr lang="en-US" dirty="0"/>
              <a:t> </a:t>
            </a:r>
            <a:r>
              <a:rPr lang="en-US" dirty="0" err="1"/>
              <a:t>Nucleul</a:t>
            </a:r>
            <a:r>
              <a:rPr lang="en-US" dirty="0"/>
              <a:t> de </a:t>
            </a:r>
            <a:r>
              <a:rPr lang="en-US" dirty="0" err="1"/>
              <a:t>analiză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scor</a:t>
            </a:r>
            <a:r>
              <a:rPr lang="en-US" dirty="0"/>
              <a:t> de </a:t>
            </a:r>
            <a:r>
              <a:rPr lang="en-US" dirty="0" err="1"/>
              <a:t>anomalie</a:t>
            </a:r>
            <a:r>
              <a:rPr lang="en-US" dirty="0"/>
              <a:t> (Python, </a:t>
            </a:r>
            <a:r>
              <a:rPr lang="en-US" dirty="0" err="1"/>
              <a:t>PyTorch</a:t>
            </a:r>
            <a:r>
              <a:rPr lang="en-US" dirty="0"/>
              <a:t>/TensorFlow).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b="1" dirty="0" err="1"/>
              <a:t>Bază</a:t>
            </a:r>
            <a:r>
              <a:rPr lang="en-US" b="1" dirty="0"/>
              <a:t> de Date: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evenimentelor</a:t>
            </a:r>
            <a:r>
              <a:rPr lang="en-US" dirty="0"/>
              <a:t> </a:t>
            </a:r>
            <a:r>
              <a:rPr lang="en-US" dirty="0" err="1"/>
              <a:t>anormale</a:t>
            </a:r>
            <a:r>
              <a:rPr lang="en-US" dirty="0"/>
              <a:t> </a:t>
            </a:r>
            <a:r>
              <a:rPr lang="en-US" dirty="0" err="1"/>
              <a:t>detectate</a:t>
            </a:r>
            <a:r>
              <a:rPr lang="en-US" dirty="0"/>
              <a:t>.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b="1" dirty="0" err="1"/>
              <a:t>Interfață</a:t>
            </a:r>
            <a:r>
              <a:rPr lang="en-US" b="1" dirty="0"/>
              <a:t> de </a:t>
            </a:r>
            <a:r>
              <a:rPr lang="en-US" b="1" dirty="0" err="1"/>
              <a:t>Alertă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clipul</a:t>
            </a:r>
            <a:r>
              <a:rPr lang="en-US" dirty="0"/>
              <a:t> video al </a:t>
            </a:r>
            <a:r>
              <a:rPr lang="en-US" dirty="0" err="1"/>
              <a:t>incidentului</a:t>
            </a:r>
            <a:r>
              <a:rPr lang="en-US" dirty="0"/>
              <a:t> </a:t>
            </a:r>
            <a:r>
              <a:rPr lang="en-US" dirty="0" err="1"/>
              <a:t>marcat</a:t>
            </a:r>
            <a:r>
              <a:rPr lang="en-US" dirty="0"/>
              <a:t>.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b="1" dirty="0"/>
              <a:t>Hardware (</a:t>
            </a:r>
            <a:r>
              <a:rPr lang="en-US" b="1" dirty="0" err="1"/>
              <a:t>Inclusiv</a:t>
            </a:r>
            <a:r>
              <a:rPr lang="en-US" b="1" dirty="0"/>
              <a:t>):</a:t>
            </a:r>
            <a:r>
              <a:rPr lang="en-US" dirty="0"/>
              <a:t> Server </a:t>
            </a:r>
            <a:r>
              <a:rPr lang="en-US" dirty="0" err="1"/>
              <a:t>puternic</a:t>
            </a:r>
            <a:r>
              <a:rPr lang="en-US" dirty="0"/>
              <a:t> cu GPU-</a:t>
            </a:r>
            <a:r>
              <a:rPr lang="en-US" dirty="0" err="1"/>
              <a:t>uri</a:t>
            </a:r>
            <a:r>
              <a:rPr lang="en-US" dirty="0"/>
              <a:t> (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procesarea</a:t>
            </a:r>
            <a:r>
              <a:rPr lang="en-US" dirty="0"/>
              <a:t> video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soluții</a:t>
            </a:r>
            <a:r>
              <a:rPr lang="en-US" dirty="0"/>
              <a:t> de Edge Computing </a:t>
            </a:r>
            <a:r>
              <a:rPr lang="en-US" dirty="0" err="1"/>
              <a:t>instalate</a:t>
            </a:r>
            <a:r>
              <a:rPr lang="en-US" dirty="0"/>
              <a:t> </a:t>
            </a:r>
            <a:r>
              <a:rPr lang="en-US" dirty="0" err="1"/>
              <a:t>lângă</a:t>
            </a:r>
            <a:r>
              <a:rPr lang="en-US" dirty="0"/>
              <a:t> </a:t>
            </a:r>
            <a:r>
              <a:rPr lang="en-US" dirty="0" err="1"/>
              <a:t>camere</a:t>
            </a:r>
            <a:r>
              <a:rPr lang="en-US" dirty="0"/>
              <a:t>.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983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0D1C7D-0D45-71C5-8875-3CF46003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b="1" dirty="0" err="1"/>
              <a:t>Fluxurile</a:t>
            </a:r>
            <a:r>
              <a:rPr lang="en-US" b="1" dirty="0"/>
              <a:t> de Date</a:t>
            </a:r>
            <a:endParaRPr lang="en-US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7F93-11FA-306A-41F3-F9E1FD6B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b="1" dirty="0"/>
              <a:t>De la </a:t>
            </a:r>
            <a:r>
              <a:rPr lang="en-US" b="1" dirty="0" err="1"/>
              <a:t>Proces</a:t>
            </a:r>
            <a:r>
              <a:rPr lang="en-US" b="1" dirty="0"/>
              <a:t> la SIA: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dirty="0"/>
              <a:t>Flux Video </a:t>
            </a:r>
            <a:r>
              <a:rPr lang="en-US" dirty="0" err="1"/>
              <a:t>Continuu</a:t>
            </a:r>
            <a:r>
              <a:rPr lang="en-US" dirty="0"/>
              <a:t> (</a:t>
            </a:r>
            <a:r>
              <a:rPr lang="en-US" dirty="0" err="1"/>
              <a:t>serii</a:t>
            </a:r>
            <a:r>
              <a:rPr lang="en-US" dirty="0"/>
              <a:t> de cadre).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dirty="0"/>
              <a:t>Meta-date (</a:t>
            </a:r>
            <a:r>
              <a:rPr lang="en-US" dirty="0" err="1"/>
              <a:t>Locația</a:t>
            </a:r>
            <a:r>
              <a:rPr lang="en-US" dirty="0"/>
              <a:t> </a:t>
            </a:r>
            <a:r>
              <a:rPr lang="en-US" dirty="0" err="1"/>
              <a:t>camerei</a:t>
            </a:r>
            <a:r>
              <a:rPr lang="en-US" dirty="0"/>
              <a:t>, Ora).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b="1" dirty="0"/>
              <a:t>De la SIA la </a:t>
            </a:r>
            <a:r>
              <a:rPr lang="en-US" b="1" dirty="0" err="1"/>
              <a:t>Proces</a:t>
            </a:r>
            <a:r>
              <a:rPr lang="en-US" b="1" dirty="0"/>
              <a:t>: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dirty="0" err="1"/>
              <a:t>Alertă</a:t>
            </a:r>
            <a:r>
              <a:rPr lang="en-US" dirty="0"/>
              <a:t> de </a:t>
            </a:r>
            <a:r>
              <a:rPr lang="en-US" dirty="0" err="1"/>
              <a:t>Anomalie</a:t>
            </a:r>
            <a:r>
              <a:rPr lang="en-US" dirty="0"/>
              <a:t> (Timestamp, Tip </a:t>
            </a:r>
            <a:r>
              <a:rPr lang="en-US" dirty="0" err="1"/>
              <a:t>Probabil</a:t>
            </a:r>
            <a:r>
              <a:rPr lang="en-US" dirty="0"/>
              <a:t> de Incident).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dirty="0" err="1"/>
              <a:t>Clipul</a:t>
            </a:r>
            <a:r>
              <a:rPr lang="en-US" dirty="0"/>
              <a:t> Video (</a:t>
            </a:r>
            <a:r>
              <a:rPr lang="en-US" dirty="0" err="1"/>
              <a:t>Secvența</a:t>
            </a:r>
            <a:r>
              <a:rPr lang="en-US" dirty="0"/>
              <a:t> de cadre care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anomalia</a:t>
            </a:r>
            <a:r>
              <a:rPr lang="en-US" dirty="0"/>
              <a:t>).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b="1" dirty="0" err="1"/>
              <a:t>Posibilități</a:t>
            </a:r>
            <a:r>
              <a:rPr lang="en-US" b="1" dirty="0"/>
              <a:t> (</a:t>
            </a:r>
            <a:r>
              <a:rPr lang="en-US" b="1" dirty="0" err="1"/>
              <a:t>Învățare</a:t>
            </a:r>
            <a:r>
              <a:rPr lang="en-US" b="1" dirty="0"/>
              <a:t>/</a:t>
            </a:r>
            <a:r>
              <a:rPr lang="en-US" b="1" dirty="0" err="1"/>
              <a:t>Stocare</a:t>
            </a:r>
            <a:r>
              <a:rPr lang="en-US" b="1" dirty="0"/>
              <a:t>):</a:t>
            </a:r>
            <a:r>
              <a:rPr lang="en-US" dirty="0"/>
              <a:t> Modelul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antrenat</a:t>
            </a:r>
            <a:r>
              <a:rPr lang="en-US" dirty="0"/>
              <a:t> pe date care </a:t>
            </a:r>
            <a:r>
              <a:rPr lang="en-US" dirty="0" err="1"/>
              <a:t>arată</a:t>
            </a:r>
            <a:r>
              <a:rPr lang="en-US" dirty="0"/>
              <a:t> </a:t>
            </a:r>
            <a:r>
              <a:rPr lang="en-US" b="1" dirty="0" err="1"/>
              <a:t>comportament</a:t>
            </a:r>
            <a:r>
              <a:rPr lang="en-US" b="1" dirty="0"/>
              <a:t> normal</a:t>
            </a:r>
            <a:r>
              <a:rPr lang="en-US" dirty="0"/>
              <a:t> (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). </a:t>
            </a:r>
            <a:r>
              <a:rPr lang="en-US" dirty="0" err="1"/>
              <a:t>Stocarea</a:t>
            </a:r>
            <a:r>
              <a:rPr lang="en-US" dirty="0"/>
              <a:t> se </a:t>
            </a:r>
            <a:r>
              <a:rPr lang="en-US" dirty="0" err="1"/>
              <a:t>referă</a:t>
            </a:r>
            <a:r>
              <a:rPr lang="en-US" dirty="0"/>
              <a:t> la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clipurilor</a:t>
            </a:r>
            <a:r>
              <a:rPr lang="en-US" dirty="0"/>
              <a:t> video cu </a:t>
            </a:r>
            <a:r>
              <a:rPr lang="en-US" dirty="0" err="1"/>
              <a:t>anomaliile</a:t>
            </a:r>
            <a:r>
              <a:rPr lang="en-US" dirty="0"/>
              <a:t> </a:t>
            </a:r>
            <a:r>
              <a:rPr lang="en-US" dirty="0" err="1"/>
              <a:t>detectate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en-US" dirty="0" err="1"/>
              <a:t>umană</a:t>
            </a:r>
            <a:r>
              <a:rPr lang="en-US" dirty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12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95BD15-EECF-F72B-3DD3-4FA5B4D5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sz="3300" b="1" err="1"/>
              <a:t>Specificația</a:t>
            </a:r>
            <a:r>
              <a:rPr lang="en-US" sz="3300" b="1"/>
              <a:t> </a:t>
            </a:r>
            <a:r>
              <a:rPr lang="en-US" sz="3300" b="1" err="1"/>
              <a:t>Datelor</a:t>
            </a:r>
            <a:r>
              <a:rPr lang="en-US" sz="3300" b="1"/>
              <a:t> de </a:t>
            </a:r>
            <a:r>
              <a:rPr lang="en-US" sz="3300" b="1" err="1"/>
              <a:t>Intrare</a:t>
            </a:r>
            <a:r>
              <a:rPr lang="en-US" sz="3300" b="1"/>
              <a:t>/</a:t>
            </a:r>
            <a:r>
              <a:rPr lang="en-US" sz="3300" b="1" err="1"/>
              <a:t>Ieșire</a:t>
            </a:r>
            <a:endParaRPr lang="en-US" sz="330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21B11-3BAE-EA16-1040-15D4C2621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Intrare</a:t>
            </a:r>
            <a:r>
              <a:rPr lang="en-US" b="1" dirty="0"/>
              <a:t>:</a:t>
            </a:r>
            <a:r>
              <a:rPr lang="en-US" dirty="0"/>
              <a:t> Flux video (ex. format H.264), </a:t>
            </a:r>
            <a:r>
              <a:rPr lang="en-US" dirty="0" err="1"/>
              <a:t>procesat</a:t>
            </a:r>
            <a:r>
              <a:rPr lang="en-US" dirty="0"/>
              <a:t> ca o </a:t>
            </a:r>
            <a:r>
              <a:rPr lang="en-US" dirty="0" err="1"/>
              <a:t>secvență</a:t>
            </a:r>
            <a:r>
              <a:rPr lang="en-US" dirty="0"/>
              <a:t> de cadre (tensor 3D).</a:t>
            </a:r>
          </a:p>
          <a:p>
            <a:pPr lvl="1"/>
            <a:r>
              <a:rPr lang="en-US" b="1" dirty="0" err="1"/>
              <a:t>Ieșire</a:t>
            </a:r>
            <a:r>
              <a:rPr lang="en-US" b="1" dirty="0"/>
              <a:t>:</a:t>
            </a:r>
            <a:r>
              <a:rPr lang="en-US" dirty="0"/>
              <a:t> Format JSON. Include: </a:t>
            </a:r>
            <a:r>
              <a:rPr lang="en-US" dirty="0" err="1"/>
              <a:t>Camera_ID</a:t>
            </a:r>
            <a:r>
              <a:rPr lang="en-US" dirty="0"/>
              <a:t>, </a:t>
            </a:r>
            <a:r>
              <a:rPr lang="en-US" dirty="0" err="1"/>
              <a:t>Anomaly_Start_Time</a:t>
            </a:r>
            <a:r>
              <a:rPr lang="en-US" dirty="0"/>
              <a:t>, </a:t>
            </a:r>
            <a:r>
              <a:rPr lang="en-US" dirty="0" err="1"/>
              <a:t>Anomaly_Score</a:t>
            </a:r>
            <a:r>
              <a:rPr lang="en-US" dirty="0"/>
              <a:t>, </a:t>
            </a:r>
            <a:r>
              <a:rPr lang="en-US" dirty="0" err="1"/>
              <a:t>Suggested_Anomaly_Type</a:t>
            </a:r>
            <a:r>
              <a:rPr lang="en-US" dirty="0"/>
              <a:t> (ex. "</a:t>
            </a:r>
            <a:r>
              <a:rPr lang="en-US" dirty="0" err="1"/>
              <a:t>Luptă</a:t>
            </a:r>
            <a:r>
              <a:rPr lang="en-US" dirty="0"/>
              <a:t>", "</a:t>
            </a:r>
            <a:r>
              <a:rPr lang="en-US" dirty="0" err="1"/>
              <a:t>Cădere</a:t>
            </a:r>
            <a:r>
              <a:rPr lang="en-US" dirty="0"/>
              <a:t>").</a:t>
            </a:r>
          </a:p>
          <a:p>
            <a:pPr lvl="1"/>
            <a:r>
              <a:rPr lang="en-US" b="1" dirty="0" err="1"/>
              <a:t>Surse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Camere</a:t>
            </a:r>
            <a:r>
              <a:rPr lang="en-US" dirty="0"/>
              <a:t> IP (CCTV), DVR/NVR.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077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9E575-C509-116F-F9C5-DEEB90DC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</a:rPr>
              <a:t>Tehnologii Utilizate:</a:t>
            </a:r>
            <a:r>
              <a:rPr lang="en-US" sz="1700">
                <a:solidFill>
                  <a:srgbClr val="FFFFFF"/>
                </a:solidFill>
              </a:rPr>
              <a:t> </a:t>
            </a:r>
            <a:r>
              <a:rPr lang="en-US" sz="1700" b="1">
                <a:solidFill>
                  <a:srgbClr val="FFFFFF"/>
                </a:solidFill>
              </a:rPr>
              <a:t>Python</a:t>
            </a:r>
            <a:r>
              <a:rPr lang="en-US" sz="1700">
                <a:solidFill>
                  <a:srgbClr val="FFFFFF"/>
                </a:solidFill>
              </a:rPr>
              <a:t>, </a:t>
            </a:r>
            <a:r>
              <a:rPr lang="en-US" sz="1700" b="1">
                <a:solidFill>
                  <a:srgbClr val="FFFFFF"/>
                </a:solidFill>
              </a:rPr>
              <a:t>OpenCV</a:t>
            </a:r>
            <a:r>
              <a:rPr lang="en-US" sz="1700">
                <a:solidFill>
                  <a:srgbClr val="FFFFFF"/>
                </a:solidFill>
              </a:rPr>
              <a:t> (procesare video), </a:t>
            </a:r>
            <a:r>
              <a:rPr lang="en-US" sz="1700" b="1">
                <a:solidFill>
                  <a:srgbClr val="FFFFFF"/>
                </a:solidFill>
              </a:rPr>
              <a:t>PyTorch/TensorFlow</a:t>
            </a:r>
            <a:r>
              <a:rPr lang="en-US" sz="1700">
                <a:solidFill>
                  <a:srgbClr val="FFFFFF"/>
                </a:solidFill>
              </a:rPr>
              <a:t> (framework RN), </a:t>
            </a:r>
            <a:r>
              <a:rPr lang="en-US" sz="1700" b="1">
                <a:solidFill>
                  <a:srgbClr val="FFFFFF"/>
                </a:solidFill>
              </a:rPr>
              <a:t>librării Python</a:t>
            </a:r>
            <a:r>
              <a:rPr lang="en-US" sz="1700">
                <a:solidFill>
                  <a:srgbClr val="FFFFFF"/>
                </a:solidFill>
              </a:rPr>
              <a:t> pentru analiza seriilor de timp.</a:t>
            </a:r>
            <a:br>
              <a:rPr lang="en-US" sz="1700">
                <a:solidFill>
                  <a:srgbClr val="FFFFFF"/>
                </a:solidFill>
              </a:rPr>
            </a:br>
            <a:endParaRPr lang="en-US" sz="1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360A3-3767-1539-22F5-07F47E710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446" y="2413001"/>
            <a:ext cx="9048218" cy="3033180"/>
          </a:xfrm>
        </p:spPr>
        <p:txBody>
          <a:bodyPr anchor="ctr"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2000" b="1">
                <a:solidFill>
                  <a:srgbClr val="FFFFFF"/>
                </a:solidFill>
              </a:rPr>
              <a:t>Utilizatori și Roluri/Permisiuni:</a:t>
            </a:r>
            <a:endParaRPr lang="en-US" sz="2000">
              <a:solidFill>
                <a:srgbClr val="FFFF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b="1">
                <a:solidFill>
                  <a:srgbClr val="FFFFFF"/>
                </a:solidFill>
              </a:rPr>
              <a:t>Admin (Inginer Securitate/IT):</a:t>
            </a:r>
            <a:r>
              <a:rPr lang="en-US">
                <a:solidFill>
                  <a:srgbClr val="FFFFFF"/>
                </a:solidFill>
              </a:rPr>
              <a:t> Gestionează modelul, definește zonele de interes și sensibilitatea.</a:t>
            </a:r>
          </a:p>
          <a:p>
            <a:pPr lvl="1">
              <a:lnSpc>
                <a:spcPct val="110000"/>
              </a:lnSpc>
            </a:pPr>
            <a:r>
              <a:rPr lang="en-US" b="1">
                <a:solidFill>
                  <a:srgbClr val="FFFFFF"/>
                </a:solidFill>
              </a:rPr>
              <a:t>Utilizator Standard (Operator Cameră de Supraveghere):</a:t>
            </a:r>
            <a:r>
              <a:rPr lang="en-US">
                <a:solidFill>
                  <a:srgbClr val="FFFFFF"/>
                </a:solidFill>
              </a:rPr>
              <a:t> Primește alerta imediată și vizualizează secvența video pentru a confirma și a acționa.</a:t>
            </a:r>
          </a:p>
          <a:p>
            <a:pPr lvl="0">
              <a:lnSpc>
                <a:spcPct val="110000"/>
              </a:lnSpc>
            </a:pPr>
            <a:r>
              <a:rPr lang="en-US" sz="2000" b="1">
                <a:solidFill>
                  <a:srgbClr val="FFFFFF"/>
                </a:solidFill>
              </a:rPr>
              <a:t>Componentă de Simulare/Achiziție Reală:</a:t>
            </a:r>
            <a:r>
              <a:rPr lang="en-US" sz="2000">
                <a:solidFill>
                  <a:srgbClr val="FFFFFF"/>
                </a:solidFill>
              </a:rPr>
              <a:t> Se va folosi un mix: </a:t>
            </a:r>
            <a:r>
              <a:rPr lang="en-US" sz="2000" b="1">
                <a:solidFill>
                  <a:srgbClr val="FFFFFF"/>
                </a:solidFill>
              </a:rPr>
              <a:t>Achiziție Reală</a:t>
            </a:r>
            <a:r>
              <a:rPr lang="en-US" sz="2000">
                <a:solidFill>
                  <a:srgbClr val="FFFFFF"/>
                </a:solidFill>
              </a:rPr>
              <a:t> pentru antrenarea pe comportamentul </a:t>
            </a:r>
            <a:r>
              <a:rPr lang="en-US" sz="2000" i="1">
                <a:solidFill>
                  <a:srgbClr val="FFFFFF"/>
                </a:solidFill>
              </a:rPr>
              <a:t>normal</a:t>
            </a:r>
            <a:r>
              <a:rPr lang="en-US" sz="2000">
                <a:solidFill>
                  <a:srgbClr val="FFFFFF"/>
                </a:solidFill>
              </a:rPr>
              <a:t> (care este abundent) și un set de date </a:t>
            </a:r>
            <a:r>
              <a:rPr lang="en-US" sz="2000" b="1">
                <a:solidFill>
                  <a:srgbClr val="FFFFFF"/>
                </a:solidFill>
              </a:rPr>
              <a:t>Simulat/Public</a:t>
            </a:r>
            <a:r>
              <a:rPr lang="en-US" sz="2000">
                <a:solidFill>
                  <a:srgbClr val="FFFFFF"/>
                </a:solidFill>
              </a:rPr>
              <a:t> care conține exemple de anomalii pentru a valida performanța.</a:t>
            </a:r>
          </a:p>
        </p:txBody>
      </p:sp>
    </p:spTree>
    <p:extLst>
      <p:ext uri="{BB962C8B-B14F-4D97-AF65-F5344CB8AC3E}">
        <p14:creationId xmlns:p14="http://schemas.microsoft.com/office/powerpoint/2010/main" val="374510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132</TotalTime>
  <Words>759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Detectarea Anomaliilor Comportamentale în Supravegherea Video</vt:lpstr>
      <vt:lpstr>Descriere Nevoie</vt:lpstr>
      <vt:lpstr>Stadiul Actual &amp; Tendințe </vt:lpstr>
      <vt:lpstr>Beneficii Măsurabile</vt:lpstr>
      <vt:lpstr>Surse Relevante</vt:lpstr>
      <vt:lpstr>PowerPoint Presentation</vt:lpstr>
      <vt:lpstr>Descrierea Sistemului cu Inteligență Artificială</vt:lpstr>
      <vt:lpstr>Capabilități și Roluri SIA</vt:lpstr>
      <vt:lpstr>Arhitectura</vt:lpstr>
      <vt:lpstr>Fluxurile de Date</vt:lpstr>
      <vt:lpstr>Specificația Datelor de Intrare/Ieșire</vt:lpstr>
      <vt:lpstr>Tehnologii Utilizate: Python, OpenCV (procesare video), PyTorch/TensorFlow (framework RN), librării Python pentru analiza seriilor de timp.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Bogdan-Ştefan PRALEA (140052)</dc:creator>
  <cp:lastModifiedBy>Bogdan-Ştefan PRALEA (140052)</cp:lastModifiedBy>
  <cp:revision>8</cp:revision>
  <dcterms:created xsi:type="dcterms:W3CDTF">2025-11-11T14:34:53Z</dcterms:created>
  <dcterms:modified xsi:type="dcterms:W3CDTF">2025-11-18T15:28:28Z</dcterms:modified>
</cp:coreProperties>
</file>